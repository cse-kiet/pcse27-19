
<file path=[Content_Types].xml><?xml version="1.0" encoding="utf-8"?>
<Types xmlns="http://schemas.openxmlformats.org/package/2006/content-types">
  <Default ContentType="application/x-fontdata" Extension="fntdata"/>
  <Default ContentType="application/xml" Extension="xml"/>
  <Default ContentType="image/png" Extension="png"/>
  <Default ContentType="application/vnd.openxmlformats-officedocument.obfuscatedFont" Extension="odttf"/>
  <Default ContentType="application/vnd.openxmlformats-package.relationships+xml" Extension="rels"/>
  <Override ContentType="application/vnd.openxmlformats-officedocument.presentationml.notesSlide+xml" PartName="/ppt/notesSlides/notesSlide6.xml"/>
  <Override ContentType="application/vnd.openxmlformats-officedocument.presentationml.notesSlide+xml" PartName="/ppt/notesSlides/notesSlide1.xml"/>
  <Override ContentType="application/vnd.openxmlformats-officedocument.presentationml.notesSlide+xml" PartName="/ppt/notesSlides/notesSlide3.xml"/>
  <Override ContentType="application/vnd.openxmlformats-officedocument.presentationml.notesSlide+xml" PartName="/ppt/notesSlides/notesSlide7.xml"/>
  <Override ContentType="application/vnd.openxmlformats-officedocument.presentationml.notesSlide+xml" PartName="/ppt/notesSlides/notesSlide2.xml"/>
  <Override ContentType="application/vnd.openxmlformats-officedocument.presentationml.notesSlide+xml" PartName="/ppt/notesSlides/notesSlide5.xml"/>
  <Override ContentType="application/vnd.openxmlformats-officedocument.presentationml.notesSlide+xml" PartName="/ppt/notesSlides/notesSlide4.xml"/>
  <Override ContentType="application/vnd.openxmlformats-officedocument.presentationml.slideLayout+xml" PartName="/ppt/slideLayouts/slideLayout1.xml"/>
  <Override ContentType="application/vnd.openxmlformats-officedocument.presentationml.slideMaster+xml" PartName="/ppt/slideMasters/slideMaster1.xml"/>
  <Override ContentType="application/binary" PartName="/ppt/metadata"/>
  <Override ContentType="application/vnd.openxmlformats-officedocument.presentationml.slide+xml" PartName="/ppt/slides/slide4.xml"/>
  <Override ContentType="application/vnd.openxmlformats-officedocument.presentationml.slide+xml" PartName="/ppt/slides/slide1.xml"/>
  <Override ContentType="application/vnd.openxmlformats-officedocument.presentationml.slide+xml" PartName="/ppt/slides/slide2.xml"/>
  <Override ContentType="application/vnd.openxmlformats-officedocument.presentationml.slide+xml" PartName="/ppt/slides/slide3.xml"/>
  <Override ContentType="application/vnd.openxmlformats-officedocument.presentationml.slide+xml" PartName="/ppt/slides/slide6.xml"/>
  <Override ContentType="application/vnd.openxmlformats-officedocument.presentationml.slide+xml" PartName="/ppt/slides/slide5.xml"/>
  <Override ContentType="application/vnd.openxmlformats-officedocument.presentationml.slide+xml" PartName="/ppt/slides/slide7.xml"/>
  <Override ContentType="application/vnd.openxmlformats-officedocument.presentationml.notesMaster+xml" PartName="/ppt/notesMasters/notesMaster1.xml"/>
  <Override ContentType="application/vnd.openxmlformats-package.core-properties+xml" PartName="/docProps/core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theme+xml" PartName="/ppt/theme/theme1.xml"/>
  <Override ContentType="application/vnd.openxmlformats-officedocument.theme+xml" PartName="/ppt/theme/theme2.xml"/>
</Types>
</file>

<file path=_rels/.rels><?xml version="1.0" encoding="UTF-8" standalone="yes"?><Relationships xmlns="http://schemas.openxmlformats.org/package/2006/relationships"><Relationship Id="rId1" Type="http://schemas.openxmlformats.org/package/2006/relationships/metadata/core-properties" Target="docProps/core.xml"/><Relationship Id="rId2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autoCompressPictures="0" embedTrueTypeFonts="1" strictFirstAndLastChars="0" saveSubsetFonts="1">
  <p:sldMasterIdLst>
    <p:sldMasterId id="2147483648" r:id="rId3"/>
  </p:sldMasterIdLst>
  <p:notesMasterIdLst>
    <p:notesMasterId r:id="rId4"/>
  </p:notesMasterIdLst>
  <p:sldIdLst>
    <p:sldId id="256" r:id="rId5"/>
    <p:sldId id="257" r:id="rId6"/>
    <p:sldId id="258" r:id="rId7"/>
    <p:sldId id="259" r:id="rId8"/>
    <p:sldId id="260" r:id="rId9"/>
    <p:sldId id="261" r:id="rId10"/>
    <p:sldId id="262" r:id="rId11"/>
  </p:sldIdLst>
  <p:sldSz cy="10287000" cx="18288000"/>
  <p:notesSz cx="10287000" cy="18288000"/>
  <p:embeddedFontLst>
    <p:embeddedFont>
      <p:font typeface="Inter"/>
      <p:regular r:id="rId12"/>
      <p:bold r:id="rId13"/>
      <p:italic r:id="rId14"/>
      <p:boldItalic r:id="rId15"/>
    </p:embeddedFont>
    <p:embeddedFont>
      <p:font typeface="Poppins"/>
      <p:regular r:id="rId16"/>
      <p:bold r:id="rId17"/>
      <p:italic r:id="rId18"/>
      <p:boldItalic r:id="rId19"/>
    </p:embeddedFont>
  </p:embeddedFontLst>
  <p:defaultText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GoogleSlidesCustomDataVersion2">
      <go:slidesCustomData xmlns:go="http://customooxmlschemas.google.com/" r:id="rId20" roundtripDataSignature="AMtx7mgRh8QCxRPqBvDMaosd1vKAo0Vo5A==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/>
</file>

<file path=ppt/_rels/presentation.xml.rels><?xml version="1.0" encoding="UTF-8" standalone="yes"?><Relationships xmlns="http://schemas.openxmlformats.org/package/2006/relationships"><Relationship Id="rId20" Type="http://customschemas.google.com/relationships/presentationmetadata" Target="metadata"/><Relationship Id="rId11" Type="http://schemas.openxmlformats.org/officeDocument/2006/relationships/slide" Target="slides/slide7.xml"/><Relationship Id="rId10" Type="http://schemas.openxmlformats.org/officeDocument/2006/relationships/slide" Target="slides/slide6.xml"/><Relationship Id="rId13" Type="http://schemas.openxmlformats.org/officeDocument/2006/relationships/font" Target="fonts/Inter-bold.fntdata"/><Relationship Id="rId12" Type="http://schemas.openxmlformats.org/officeDocument/2006/relationships/font" Target="fonts/Inter-regular.fntdata"/><Relationship Id="rId1" Type="http://schemas.openxmlformats.org/officeDocument/2006/relationships/theme" Target="theme/theme1.xml"/><Relationship Id="rId2" Type="http://schemas.openxmlformats.org/officeDocument/2006/relationships/presProps" Target="presProps.xml"/><Relationship Id="rId3" Type="http://schemas.openxmlformats.org/officeDocument/2006/relationships/slideMaster" Target="slideMasters/slideMaster1.xml"/><Relationship Id="rId4" Type="http://schemas.openxmlformats.org/officeDocument/2006/relationships/notesMaster" Target="notesMasters/notesMaster1.xml"/><Relationship Id="rId9" Type="http://schemas.openxmlformats.org/officeDocument/2006/relationships/slide" Target="slides/slide5.xml"/><Relationship Id="rId15" Type="http://schemas.openxmlformats.org/officeDocument/2006/relationships/font" Target="fonts/Inter-boldItalic.fntdata"/><Relationship Id="rId14" Type="http://schemas.openxmlformats.org/officeDocument/2006/relationships/font" Target="fonts/Inter-italic.fntdata"/><Relationship Id="rId17" Type="http://schemas.openxmlformats.org/officeDocument/2006/relationships/font" Target="fonts/Poppins-bold.fntdata"/><Relationship Id="rId16" Type="http://schemas.openxmlformats.org/officeDocument/2006/relationships/font" Target="fonts/Poppins-regular.fntdata"/><Relationship Id="rId5" Type="http://schemas.openxmlformats.org/officeDocument/2006/relationships/slide" Target="slides/slide1.xml"/><Relationship Id="rId19" Type="http://schemas.openxmlformats.org/officeDocument/2006/relationships/font" Target="fonts/Poppins-boldItalic.fntdata"/><Relationship Id="rId6" Type="http://schemas.openxmlformats.org/officeDocument/2006/relationships/slide" Target="slides/slide2.xml"/><Relationship Id="rId18" Type="http://schemas.openxmlformats.org/officeDocument/2006/relationships/font" Target="fonts/Poppins-italic.fntdata"/><Relationship Id="rId7" Type="http://schemas.openxmlformats.org/officeDocument/2006/relationships/slide" Target="slides/slide3.xml"/><Relationship Id="rId8" Type="http://schemas.openxmlformats.org/officeDocument/2006/relationships/slide" Target="slides/slide4.xml"/></Relationships>
</file>

<file path=ppt/notesMasters/_rels/notesMaster1.xml.rels><?xml version="1.0" encoding="UTF-8" standalone="yes"?>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lt1"/>
        </a:solidFill>
      </p:bgPr>
    </p:bg>
    <p:spTree>
      <p:nvGrpSpPr>
        <p:cNvPr id="2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 txBox="1"/>
          <p:nvPr>
            <p:ph idx="2" type="hdr"/>
          </p:nvPr>
        </p:nvSpPr>
        <p:spPr>
          <a:xfrm>
            <a:off x="0" y="0"/>
            <a:ext cx="2971800" cy="45878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lvl="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4" name="Google Shape;4;n"/>
          <p:cNvSpPr txBox="1"/>
          <p:nvPr>
            <p:ph idx="10" type="dt"/>
          </p:nvPr>
        </p:nvSpPr>
        <p:spPr>
          <a:xfrm>
            <a:off x="3884613" y="0"/>
            <a:ext cx="2971800" cy="45878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lvl="0" marR="0" rtl="0" algn="r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5" name="Google Shape;5;n"/>
          <p:cNvSpPr/>
          <p:nvPr>
            <p:ph idx="3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6" name="Google Shape;6;n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indent="-228600" lvl="0" marL="4572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-228600" lvl="1" marL="9144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-228600" lvl="2" marL="13716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-228600" lvl="3" marL="18288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-228600" lvl="4" marL="22860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-228600" lvl="5" marL="27432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-228600" lvl="6" marL="32004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-228600" lvl="7" marL="36576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-228600" lvl="8" marL="41148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7" name="Google Shape;7;n"/>
          <p:cNvSpPr txBox="1"/>
          <p:nvPr>
            <p:ph idx="11" type="ftr"/>
          </p:nvPr>
        </p:nvSpPr>
        <p:spPr>
          <a:xfrm>
            <a:off x="0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>
            <a:lvl1pPr lvl="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8" name="Google Shape;8;n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b="0" i="0" lang="en-US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‹#›</a:t>
            </a:fld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notes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1" name="Shape 1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Google Shape;12;p1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3" name="Google Shape;13;p1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4" name="Google Shape;14;p1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8" name="Shape 1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" name="Google Shape;19;g409e8322e33_0_4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20" name="Google Shape;20;g409e8322e33_0_4:notes"/>
          <p:cNvSpPr txBox="1"/>
          <p:nvPr>
            <p:ph idx="1" type="body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1" name="Google Shape;21;g409e8322e33_0_4:notes"/>
          <p:cNvSpPr txBox="1"/>
          <p:nvPr>
            <p:ph idx="12" type="sldNum"/>
          </p:nvPr>
        </p:nvSpPr>
        <p:spPr>
          <a:xfrm>
            <a:off x="3884613" y="8685213"/>
            <a:ext cx="2971800" cy="4587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49" name="Shape 4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0" name="Google Shape;50;p2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51" name="Google Shape;51;p2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2" name="Google Shape;52;p2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79" name="Shape 7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0" name="Google Shape;80;p3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81" name="Google Shape;81;p3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82" name="Google Shape;82;p3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96" name="Shape 9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7" name="Google Shape;97;p4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98" name="Google Shape;98;p4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99" name="Google Shape;99;p4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25" name="Shape 12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6" name="Google Shape;126;p5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27" name="Google Shape;127;p5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28" name="Google Shape;128;p5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43" name="Shape 14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4" name="Google Shape;144;p6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45" name="Google Shape;145;p6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46" name="Google Shape;146;p6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slideLayouts/_rels/slideLayout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DEFAULT">
  <p:cSld name="DEFAULT">
    <p:bg>
      <p:bgPr>
        <a:solidFill>
          <a:schemeClr val="lt1"/>
        </a:solidFill>
      </p:bgPr>
    </p:bg>
    <p:spTree>
      <p:nvGrpSpPr>
        <p:cNvPr id="10" name="Shape 10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9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accent1="accent1" accent2="accent2" accent3="accent3" accent4="accent4" accent5="accent5" accent6="accent6" bg1="lt1" bg2="dk2" tx1="dk1" tx2="lt2" folHlink="folHlink" hlink="hlink"/>
  <p:sldLayoutIdLst>
    <p:sldLayoutId id="2147483649" r:id="rId1"/>
  </p:sldLayoutIdLst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Relationship Id="rId3" Type="http://schemas.openxmlformats.org/officeDocument/2006/relationships/image" Target="../media/image12.png"/></Relationships>
</file>

<file path=ppt/slides/_rels/slide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Relationship Id="rId3" Type="http://schemas.openxmlformats.org/officeDocument/2006/relationships/image" Target="../media/image12.png"/><Relationship Id="rId4" Type="http://schemas.openxmlformats.org/officeDocument/2006/relationships/image" Target="../media/image11.png"/><Relationship Id="rId5" Type="http://schemas.openxmlformats.org/officeDocument/2006/relationships/image" Target="../media/image44.png"/><Relationship Id="rId6" Type="http://schemas.openxmlformats.org/officeDocument/2006/relationships/image" Target="../media/image3.png"/><Relationship Id="rId7" Type="http://schemas.openxmlformats.org/officeDocument/2006/relationships/image" Target="../media/image14.png"/></Relationships>
</file>

<file path=ppt/slides/_rels/slide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Relationship Id="rId3" Type="http://schemas.openxmlformats.org/officeDocument/2006/relationships/image" Target="../media/image12.png"/><Relationship Id="rId4" Type="http://schemas.openxmlformats.org/officeDocument/2006/relationships/image" Target="../media/image11.png"/><Relationship Id="rId5" Type="http://schemas.openxmlformats.org/officeDocument/2006/relationships/image" Target="../media/image5.png"/><Relationship Id="rId6" Type="http://schemas.openxmlformats.org/officeDocument/2006/relationships/image" Target="../media/image8.png"/><Relationship Id="rId7" Type="http://schemas.openxmlformats.org/officeDocument/2006/relationships/image" Target="../media/image39.png"/><Relationship Id="rId8" Type="http://schemas.openxmlformats.org/officeDocument/2006/relationships/image" Target="../media/image34.png"/></Relationships>
</file>

<file path=ppt/slides/_rels/slide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Relationship Id="rId3" Type="http://schemas.openxmlformats.org/officeDocument/2006/relationships/image" Target="../media/image12.png"/><Relationship Id="rId4" Type="http://schemas.openxmlformats.org/officeDocument/2006/relationships/image" Target="../media/image11.png"/><Relationship Id="rId5" Type="http://schemas.openxmlformats.org/officeDocument/2006/relationships/image" Target="../media/image35.png"/><Relationship Id="rId6" Type="http://schemas.openxmlformats.org/officeDocument/2006/relationships/image" Target="../media/image19.png"/><Relationship Id="rId7" Type="http://schemas.openxmlformats.org/officeDocument/2006/relationships/image" Target="../media/image18.png"/></Relationships>
</file>

<file path=ppt/slides/_rels/slide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Relationship Id="rId3" Type="http://schemas.openxmlformats.org/officeDocument/2006/relationships/image" Target="../media/image12.png"/><Relationship Id="rId4" Type="http://schemas.openxmlformats.org/officeDocument/2006/relationships/image" Target="../media/image11.png"/><Relationship Id="rId9" Type="http://schemas.openxmlformats.org/officeDocument/2006/relationships/image" Target="../media/image36.png"/><Relationship Id="rId5" Type="http://schemas.openxmlformats.org/officeDocument/2006/relationships/image" Target="../media/image27.png"/><Relationship Id="rId6" Type="http://schemas.openxmlformats.org/officeDocument/2006/relationships/image" Target="../media/image20.png"/><Relationship Id="rId7" Type="http://schemas.openxmlformats.org/officeDocument/2006/relationships/image" Target="../media/image46.png"/><Relationship Id="rId8" Type="http://schemas.openxmlformats.org/officeDocument/2006/relationships/image" Target="../media/image29.png"/></Relationships>
</file>

<file path=ppt/slides/_rels/slide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Relationship Id="rId3" Type="http://schemas.openxmlformats.org/officeDocument/2006/relationships/image" Target="../media/image12.png"/><Relationship Id="rId4" Type="http://schemas.openxmlformats.org/officeDocument/2006/relationships/image" Target="../media/image11.png"/><Relationship Id="rId5" Type="http://schemas.openxmlformats.org/officeDocument/2006/relationships/image" Target="../media/image33.png"/><Relationship Id="rId6" Type="http://schemas.openxmlformats.org/officeDocument/2006/relationships/image" Target="../media/image42.png"/><Relationship Id="rId7" Type="http://schemas.openxmlformats.org/officeDocument/2006/relationships/image" Target="../media/image24.png"/></Relationships>
</file>

<file path=ppt/slides/_rels/slide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Relationship Id="rId3" Type="http://schemas.openxmlformats.org/officeDocument/2006/relationships/image" Target="../media/image12.png"/><Relationship Id="rId4" Type="http://schemas.openxmlformats.org/officeDocument/2006/relationships/image" Target="../media/image11.png"/><Relationship Id="rId5" Type="http://schemas.openxmlformats.org/officeDocument/2006/relationships/image" Target="../media/image37.png"/><Relationship Id="rId6" Type="http://schemas.openxmlformats.org/officeDocument/2006/relationships/image" Target="../media/image25.png"/><Relationship Id="rId7" Type="http://schemas.openxmlformats.org/officeDocument/2006/relationships/image" Target="../media/image26.png"/><Relationship Id="rId8" Type="http://schemas.openxmlformats.org/officeDocument/2006/relationships/image" Target="../media/image31.png"/></Relationships>
</file>

<file path=ppt/slides/slide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blipFill>
          <a:blip r:embed="rId3">
            <a:alphaModFix/>
          </a:blip>
          <a:stretch>
            <a:fillRect/>
          </a:stretch>
        </a:blipFill>
      </p:bgPr>
    </p:bg>
    <p:spTree>
      <p:nvGrpSpPr>
        <p:cNvPr id="15" name="Shape 1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Google Shape;16;p1"/>
          <p:cNvSpPr txBox="1"/>
          <p:nvPr/>
        </p:nvSpPr>
        <p:spPr>
          <a:xfrm>
            <a:off x="2871825" y="610550"/>
            <a:ext cx="12669600" cy="84735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4400">
                <a:solidFill>
                  <a:schemeClr val="lt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SkillScan : </a:t>
            </a:r>
            <a:r>
              <a:rPr b="1" lang="en-US" sz="4400">
                <a:solidFill>
                  <a:schemeClr val="lt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Intelligent Resume Evaluation and Feedback System for Upskilling Using AI</a:t>
            </a:r>
            <a:br>
              <a:rPr b="1" lang="en-US" sz="4200">
                <a:solidFill>
                  <a:schemeClr val="lt1"/>
                </a:solidFill>
                <a:latin typeface="Times New Roman"/>
                <a:ea typeface="Times New Roman"/>
                <a:cs typeface="Times New Roman"/>
                <a:sym typeface="Times New Roman"/>
              </a:rPr>
            </a:br>
            <a:br>
              <a:rPr b="1" lang="en-US" sz="2100">
                <a:solidFill>
                  <a:schemeClr val="lt1"/>
                </a:solidFill>
                <a:latin typeface="Times New Roman"/>
                <a:ea typeface="Times New Roman"/>
                <a:cs typeface="Times New Roman"/>
                <a:sym typeface="Times New Roman"/>
              </a:rPr>
            </a:br>
            <a:endParaRPr b="1" sz="2100">
              <a:solidFill>
                <a:schemeClr val="lt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3500">
                <a:solidFill>
                  <a:schemeClr val="lt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Team Member-</a:t>
            </a:r>
            <a:endParaRPr b="1" sz="3500">
              <a:solidFill>
                <a:schemeClr val="lt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2700">
                <a:solidFill>
                  <a:schemeClr val="lt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		</a:t>
            </a:r>
            <a:br>
              <a:rPr b="1" lang="en-US" sz="2700">
                <a:solidFill>
                  <a:schemeClr val="lt1"/>
                </a:solidFill>
                <a:latin typeface="Times New Roman"/>
                <a:ea typeface="Times New Roman"/>
                <a:cs typeface="Times New Roman"/>
                <a:sym typeface="Times New Roman"/>
              </a:rPr>
            </a:br>
            <a:endParaRPr b="1" sz="1500">
              <a:solidFill>
                <a:schemeClr val="lt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0" lvl="0" marL="0" rtl="0" algn="ctr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br>
              <a:rPr b="1" lang="en-US" sz="3000">
                <a:solidFill>
                  <a:schemeClr val="lt1"/>
                </a:solidFill>
                <a:latin typeface="Times New Roman"/>
                <a:ea typeface="Times New Roman"/>
                <a:cs typeface="Times New Roman"/>
                <a:sym typeface="Times New Roman"/>
              </a:rPr>
            </a:br>
            <a:br>
              <a:rPr b="1" lang="en-US" sz="3000">
                <a:solidFill>
                  <a:schemeClr val="lt1"/>
                </a:solidFill>
                <a:latin typeface="Times New Roman"/>
                <a:ea typeface="Times New Roman"/>
                <a:cs typeface="Times New Roman"/>
                <a:sym typeface="Times New Roman"/>
              </a:rPr>
            </a:br>
            <a:br>
              <a:rPr b="1" lang="en-US" sz="3000">
                <a:solidFill>
                  <a:schemeClr val="lt1"/>
                </a:solidFill>
                <a:latin typeface="Times New Roman"/>
                <a:ea typeface="Times New Roman"/>
                <a:cs typeface="Times New Roman"/>
                <a:sym typeface="Times New Roman"/>
              </a:rPr>
            </a:br>
            <a:br>
              <a:rPr b="1" lang="en-US" sz="3000">
                <a:solidFill>
                  <a:schemeClr val="lt1"/>
                </a:solidFill>
                <a:latin typeface="Times New Roman"/>
                <a:ea typeface="Times New Roman"/>
                <a:cs typeface="Times New Roman"/>
                <a:sym typeface="Times New Roman"/>
              </a:rPr>
            </a:br>
            <a:r>
              <a:rPr b="1" lang="en-US" sz="3000">
                <a:solidFill>
                  <a:schemeClr val="lt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             DEPARTMENT OF INFORMATION TECHNOLOGY, </a:t>
            </a:r>
            <a:endParaRPr b="1" sz="1650">
              <a:solidFill>
                <a:schemeClr val="lt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0" lvl="0" marL="0" rtl="0" algn="ctr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3000">
                <a:solidFill>
                  <a:schemeClr val="lt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KIET DEEMED TO BE </a:t>
            </a:r>
            <a:r>
              <a:rPr b="1" lang="en-US" sz="3000">
                <a:solidFill>
                  <a:schemeClr val="lt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UNIVERSITY,</a:t>
            </a:r>
            <a:endParaRPr b="1" sz="3000">
              <a:solidFill>
                <a:schemeClr val="lt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0" lvl="0" marL="0" rtl="0" algn="ctr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3000">
                <a:solidFill>
                  <a:schemeClr val="lt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GHAZIABAD, UTTAR PRADESH</a:t>
            </a:r>
            <a:endParaRPr b="1" sz="1650">
              <a:solidFill>
                <a:schemeClr val="lt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0" lvl="0" marL="0" rtl="0" algn="ctr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1" sz="1650">
              <a:solidFill>
                <a:schemeClr val="lt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17" name="Google Shape;17;p1"/>
          <p:cNvSpPr txBox="1"/>
          <p:nvPr/>
        </p:nvSpPr>
        <p:spPr>
          <a:xfrm>
            <a:off x="4902950" y="3709650"/>
            <a:ext cx="10212900" cy="2867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-463550" lvl="0" marL="457200" rtl="0" algn="l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700"/>
              <a:buAutoNum type="alphaUcPeriod"/>
            </a:pPr>
            <a:r>
              <a:rPr lang="en-US" sz="3700">
                <a:solidFill>
                  <a:schemeClr val="lt1"/>
                </a:solidFill>
              </a:rPr>
              <a:t>Saksham jain (Team Lead) CSE </a:t>
            </a:r>
            <a:endParaRPr sz="3700">
              <a:solidFill>
                <a:schemeClr val="lt1"/>
              </a:solidFill>
            </a:endParaRPr>
          </a:p>
          <a:p>
            <a:pPr indent="-463550" lvl="0" marL="457200" rtl="0" algn="l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700"/>
              <a:buAutoNum type="alphaUcPeriod"/>
            </a:pPr>
            <a:r>
              <a:rPr lang="en-US" sz="3700">
                <a:solidFill>
                  <a:schemeClr val="lt1"/>
                </a:solidFill>
              </a:rPr>
              <a:t>Siddharth </a:t>
            </a:r>
            <a:r>
              <a:rPr lang="en-US" sz="3700">
                <a:solidFill>
                  <a:schemeClr val="lt1"/>
                </a:solidFill>
              </a:rPr>
              <a:t>Gautam</a:t>
            </a:r>
            <a:r>
              <a:rPr lang="en-US" sz="3700">
                <a:solidFill>
                  <a:schemeClr val="lt1"/>
                </a:solidFill>
              </a:rPr>
              <a:t> (CSE)</a:t>
            </a:r>
            <a:endParaRPr sz="3700">
              <a:solidFill>
                <a:schemeClr val="lt1"/>
              </a:solidFill>
            </a:endParaRPr>
          </a:p>
          <a:p>
            <a:pPr indent="-463550" lvl="0" marL="457200" rtl="0" algn="l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700"/>
              <a:buAutoNum type="alphaUcPeriod"/>
            </a:pPr>
            <a:r>
              <a:rPr lang="en-US" sz="3700">
                <a:solidFill>
                  <a:schemeClr val="lt1"/>
                </a:solidFill>
              </a:rPr>
              <a:t>Rishi Arora (IT)</a:t>
            </a:r>
            <a:endParaRPr sz="3700">
              <a:solidFill>
                <a:schemeClr val="lt1"/>
              </a:solidFill>
            </a:endParaRP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blipFill>
          <a:blip r:embed="rId3">
            <a:alphaModFix/>
          </a:blip>
          <a:stretch>
            <a:fillRect/>
          </a:stretch>
        </a:blipFill>
      </p:bgPr>
    </p:bg>
    <p:spTree>
      <p:nvGrpSpPr>
        <p:cNvPr id="22" name="Shape 2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preencoded.png" id="23" name="Google Shape;23;g409e8322e33_0_4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952500" y="685800"/>
            <a:ext cx="571500" cy="57150"/>
          </a:xfrm>
          <a:prstGeom prst="rect">
            <a:avLst/>
          </a:prstGeom>
          <a:noFill/>
          <a:ln>
            <a:noFill/>
          </a:ln>
        </p:spPr>
      </p:pic>
      <p:sp>
        <p:nvSpPr>
          <p:cNvPr id="24" name="Google Shape;24;g409e8322e33_0_4"/>
          <p:cNvSpPr/>
          <p:nvPr/>
        </p:nvSpPr>
        <p:spPr>
          <a:xfrm>
            <a:off x="1714500" y="590550"/>
            <a:ext cx="5715000" cy="342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22D3EE"/>
              </a:buClr>
              <a:buSzPts val="1800"/>
              <a:buFont typeface="Inter"/>
              <a:buNone/>
            </a:pPr>
            <a:r>
              <a:rPr b="1" i="0" lang="en-US" sz="1800" u="none" cap="none" strike="noStrike">
                <a:solidFill>
                  <a:srgbClr val="22D3EE"/>
                </a:solidFill>
                <a:latin typeface="Inter"/>
                <a:ea typeface="Inter"/>
                <a:cs typeface="Inter"/>
                <a:sym typeface="Inter"/>
              </a:rPr>
              <a:t>THE PROBLEM · 01</a:t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5" name="Google Shape;25;g409e8322e33_0_4"/>
          <p:cNvSpPr/>
          <p:nvPr/>
        </p:nvSpPr>
        <p:spPr>
          <a:xfrm>
            <a:off x="952500" y="1047750"/>
            <a:ext cx="8763000" cy="1124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5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4200"/>
              <a:buFont typeface="Poppins"/>
              <a:buNone/>
            </a:pPr>
            <a:r>
              <a:rPr b="1" i="0" lang="en-US" sz="4200" u="none" cap="none" strike="noStrike">
                <a:solidFill>
                  <a:srgbClr val="FFFFFF"/>
                </a:solidFill>
                <a:latin typeface="Poppins"/>
                <a:ea typeface="Poppins"/>
                <a:cs typeface="Poppins"/>
                <a:sym typeface="Poppins"/>
              </a:rPr>
              <a:t>Resumes Are Screened, But Candidates Aren't Guided</a:t>
            </a:r>
            <a:endParaRPr b="0" i="0" sz="4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6" name="Google Shape;26;g409e8322e33_0_4"/>
          <p:cNvSpPr/>
          <p:nvPr/>
        </p:nvSpPr>
        <p:spPr>
          <a:xfrm>
            <a:off x="952500" y="3143250"/>
            <a:ext cx="8001000" cy="1752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-342900" lvl="0" marL="342900" marR="0" rtl="0" algn="l">
              <a:lnSpc>
                <a:spcPct val="170000"/>
              </a:lnSpc>
              <a:spcBef>
                <a:spcPts val="0"/>
              </a:spcBef>
              <a:spcAft>
                <a:spcPts val="0"/>
              </a:spcAft>
              <a:buClr>
                <a:srgbClr val="CBD5E1"/>
              </a:buClr>
              <a:buSzPts val="2025"/>
              <a:buFont typeface="Inter"/>
              <a:buChar char="•"/>
            </a:pPr>
            <a:r>
              <a:rPr b="0" i="0" lang="en-US" sz="2025" u="none" cap="none" strike="noStrike">
                <a:solidFill>
                  <a:srgbClr val="CBD5E1"/>
                </a:solidFill>
                <a:latin typeface="Inter"/>
                <a:ea typeface="Inter"/>
                <a:cs typeface="Inter"/>
                <a:sym typeface="Inter"/>
              </a:rPr>
              <a:t>Keyword matching misses real context</a:t>
            </a:r>
            <a:endParaRPr b="0" i="0" sz="2025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342900" lvl="0" marL="342900" marR="0" rtl="0" algn="l">
              <a:lnSpc>
                <a:spcPct val="170000"/>
              </a:lnSpc>
              <a:spcBef>
                <a:spcPts val="0"/>
              </a:spcBef>
              <a:spcAft>
                <a:spcPts val="0"/>
              </a:spcAft>
              <a:buClr>
                <a:srgbClr val="CBD5E1"/>
              </a:buClr>
              <a:buSzPts val="2025"/>
              <a:buFont typeface="Inter"/>
              <a:buChar char="•"/>
            </a:pPr>
            <a:r>
              <a:rPr b="0" i="0" lang="en-US" sz="2025" u="none" cap="none" strike="noStrike">
                <a:solidFill>
                  <a:srgbClr val="CBD5E1"/>
                </a:solidFill>
                <a:latin typeface="Inter"/>
                <a:ea typeface="Inter"/>
                <a:cs typeface="Inter"/>
                <a:sym typeface="Inter"/>
              </a:rPr>
              <a:t>No semantic understanding of skills</a:t>
            </a:r>
            <a:endParaRPr b="0" i="0" sz="2025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342900" lvl="0" marL="342900" marR="0" rtl="0" algn="l">
              <a:lnSpc>
                <a:spcPct val="170000"/>
              </a:lnSpc>
              <a:spcBef>
                <a:spcPts val="0"/>
              </a:spcBef>
              <a:spcAft>
                <a:spcPts val="0"/>
              </a:spcAft>
              <a:buClr>
                <a:srgbClr val="CBD5E1"/>
              </a:buClr>
              <a:buSzPts val="2025"/>
              <a:buFont typeface="Inter"/>
              <a:buChar char="•"/>
            </a:pPr>
            <a:r>
              <a:rPr b="0" i="0" lang="en-US" sz="2025" u="none" cap="none" strike="noStrike">
                <a:solidFill>
                  <a:srgbClr val="CBD5E1"/>
                </a:solidFill>
                <a:latin typeface="Inter"/>
                <a:ea typeface="Inter"/>
                <a:cs typeface="Inter"/>
                <a:sym typeface="Inter"/>
              </a:rPr>
              <a:t>No actionable feedback to candidates</a:t>
            </a:r>
            <a:endParaRPr b="0" i="0" sz="2025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342900" lvl="0" marL="342900" marR="0" rtl="0" algn="l">
              <a:lnSpc>
                <a:spcPct val="170000"/>
              </a:lnSpc>
              <a:spcBef>
                <a:spcPts val="0"/>
              </a:spcBef>
              <a:spcAft>
                <a:spcPts val="0"/>
              </a:spcAft>
              <a:buClr>
                <a:srgbClr val="CBD5E1"/>
              </a:buClr>
              <a:buSzPts val="2025"/>
              <a:buFont typeface="Inter"/>
              <a:buChar char="•"/>
            </a:pPr>
            <a:r>
              <a:rPr b="0" i="0" lang="en-US" sz="2025" u="none" cap="none" strike="noStrike">
                <a:solidFill>
                  <a:srgbClr val="CBD5E1"/>
                </a:solidFill>
                <a:latin typeface="Inter"/>
                <a:ea typeface="Inter"/>
                <a:cs typeface="Inter"/>
                <a:sym typeface="Inter"/>
              </a:rPr>
              <a:t>No skill-gap analysis or upskilling</a:t>
            </a:r>
            <a:endParaRPr b="0" i="0" sz="2025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7" name="Google Shape;27;g409e8322e33_0_4"/>
          <p:cNvSpPr/>
          <p:nvPr/>
        </p:nvSpPr>
        <p:spPr>
          <a:xfrm>
            <a:off x="952500" y="5905500"/>
            <a:ext cx="8001000" cy="314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8B5CF6"/>
              </a:buClr>
              <a:buSzPts val="1650"/>
              <a:buFont typeface="Inter"/>
              <a:buNone/>
            </a:pPr>
            <a:r>
              <a:rPr b="1" i="0" lang="en-US" sz="1650" u="none" cap="none" strike="noStrike">
                <a:solidFill>
                  <a:srgbClr val="8B5CF6"/>
                </a:solidFill>
                <a:latin typeface="Inter"/>
                <a:ea typeface="Inter"/>
                <a:cs typeface="Inter"/>
                <a:sym typeface="Inter"/>
              </a:rPr>
              <a:t>AFFECTED:  Students · Job Seekers · Professionals · Recruiters</a:t>
            </a:r>
            <a:endParaRPr b="0" i="0" sz="16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descr="preencoded.png" id="28" name="Google Shape;28;g409e8322e33_0_4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10287000" y="3048000"/>
            <a:ext cx="4000500" cy="609600"/>
          </a:xfrm>
          <a:prstGeom prst="rect">
            <a:avLst/>
          </a:prstGeom>
          <a:noFill/>
          <a:ln>
            <a:noFill/>
          </a:ln>
        </p:spPr>
      </p:pic>
      <p:sp>
        <p:nvSpPr>
          <p:cNvPr id="29" name="Google Shape;29;g409e8322e33_0_4"/>
          <p:cNvSpPr/>
          <p:nvPr/>
        </p:nvSpPr>
        <p:spPr>
          <a:xfrm>
            <a:off x="10287000" y="3238500"/>
            <a:ext cx="4000500" cy="342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800"/>
              <a:buFont typeface="Inter"/>
              <a:buNone/>
            </a:pPr>
            <a:r>
              <a:rPr b="1" i="0" lang="en-US" sz="1800" u="none" cap="none" strike="noStrike">
                <a:solidFill>
                  <a:srgbClr val="FFFFFF"/>
                </a:solidFill>
                <a:latin typeface="Inter"/>
                <a:ea typeface="Inter"/>
                <a:cs typeface="Inter"/>
                <a:sym typeface="Inter"/>
              </a:rPr>
              <a:t>Resume</a:t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descr="preencoded.png" id="30" name="Google Shape;30;g409e8322e33_0_4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10287000" y="4000500"/>
            <a:ext cx="4000500" cy="609600"/>
          </a:xfrm>
          <a:prstGeom prst="rect">
            <a:avLst/>
          </a:prstGeom>
          <a:noFill/>
          <a:ln>
            <a:noFill/>
          </a:ln>
        </p:spPr>
      </p:pic>
      <p:sp>
        <p:nvSpPr>
          <p:cNvPr id="31" name="Google Shape;31;g409e8322e33_0_4"/>
          <p:cNvSpPr/>
          <p:nvPr/>
        </p:nvSpPr>
        <p:spPr>
          <a:xfrm>
            <a:off x="10287000" y="4191000"/>
            <a:ext cx="4000500" cy="342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800"/>
              <a:buFont typeface="Inter"/>
              <a:buNone/>
            </a:pPr>
            <a:r>
              <a:rPr b="1" i="0" lang="en-US" sz="1800" u="none" cap="none" strike="noStrike">
                <a:solidFill>
                  <a:srgbClr val="FFFFFF"/>
                </a:solidFill>
                <a:latin typeface="Inter"/>
                <a:ea typeface="Inter"/>
                <a:cs typeface="Inter"/>
                <a:sym typeface="Inter"/>
              </a:rPr>
              <a:t>Traditional ATS</a:t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descr="preencoded.png" id="32" name="Google Shape;32;g409e8322e33_0_4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10287000" y="4953000"/>
            <a:ext cx="4000500" cy="609600"/>
          </a:xfrm>
          <a:prstGeom prst="rect">
            <a:avLst/>
          </a:prstGeom>
          <a:noFill/>
          <a:ln>
            <a:noFill/>
          </a:ln>
        </p:spPr>
      </p:pic>
      <p:sp>
        <p:nvSpPr>
          <p:cNvPr id="33" name="Google Shape;33;g409e8322e33_0_4"/>
          <p:cNvSpPr/>
          <p:nvPr/>
        </p:nvSpPr>
        <p:spPr>
          <a:xfrm>
            <a:off x="10287000" y="5143500"/>
            <a:ext cx="4000500" cy="342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800"/>
              <a:buFont typeface="Inter"/>
              <a:buNone/>
            </a:pPr>
            <a:r>
              <a:rPr b="1" i="0" lang="en-US" sz="1800" u="none" cap="none" strike="noStrike">
                <a:solidFill>
                  <a:srgbClr val="FFFFFF"/>
                </a:solidFill>
                <a:latin typeface="Inter"/>
                <a:ea typeface="Inter"/>
                <a:cs typeface="Inter"/>
                <a:sym typeface="Inter"/>
              </a:rPr>
              <a:t>Keyword Match</a:t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descr="preencoded.png" id="34" name="Google Shape;34;g409e8322e33_0_4"/>
          <p:cNvPicPr preferRelativeResize="0"/>
          <p:nvPr/>
        </p:nvPicPr>
        <p:blipFill rotWithShape="1">
          <a:blip r:embed="rId6">
            <a:alphaModFix/>
          </a:blip>
          <a:srcRect b="0" l="0" r="0" t="0"/>
          <a:stretch/>
        </p:blipFill>
        <p:spPr>
          <a:xfrm>
            <a:off x="10287000" y="5905500"/>
            <a:ext cx="4000500" cy="609600"/>
          </a:xfrm>
          <a:prstGeom prst="rect">
            <a:avLst/>
          </a:prstGeom>
          <a:noFill/>
          <a:ln>
            <a:noFill/>
          </a:ln>
        </p:spPr>
      </p:pic>
      <p:sp>
        <p:nvSpPr>
          <p:cNvPr id="35" name="Google Shape;35;g409e8322e33_0_4"/>
          <p:cNvSpPr/>
          <p:nvPr/>
        </p:nvSpPr>
        <p:spPr>
          <a:xfrm>
            <a:off x="10287000" y="6096000"/>
            <a:ext cx="4000500" cy="342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800"/>
              <a:buFont typeface="Inter"/>
              <a:buNone/>
            </a:pPr>
            <a:r>
              <a:rPr b="1" i="0" lang="en-US" sz="1800" u="none" cap="none" strike="noStrike">
                <a:solidFill>
                  <a:srgbClr val="FFFFFF"/>
                </a:solidFill>
                <a:latin typeface="Inter"/>
                <a:ea typeface="Inter"/>
                <a:cs typeface="Inter"/>
                <a:sym typeface="Inter"/>
              </a:rPr>
              <a:t>Shortlist / Reject</a:t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6" name="Google Shape;36;g409e8322e33_0_4"/>
          <p:cNvSpPr/>
          <p:nvPr/>
        </p:nvSpPr>
        <p:spPr>
          <a:xfrm>
            <a:off x="14763750" y="4000500"/>
            <a:ext cx="2571900" cy="12765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Clr>
                <a:srgbClr val="F87171"/>
              </a:buClr>
              <a:buSzPts val="1575"/>
              <a:buFont typeface="Inter"/>
              <a:buNone/>
            </a:pPr>
            <a:r>
              <a:rPr b="0" i="0" lang="en-US" sz="1575" u="none" cap="none" strike="noStrike">
                <a:solidFill>
                  <a:srgbClr val="F87171"/>
                </a:solidFill>
                <a:latin typeface="Inter"/>
                <a:ea typeface="Inter"/>
                <a:cs typeface="Inter"/>
                <a:sym typeface="Inter"/>
              </a:rPr>
              <a:t>GAPS</a:t>
            </a:r>
            <a:endParaRPr b="0" i="0" sz="1575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Clr>
                <a:srgbClr val="F87171"/>
              </a:buClr>
              <a:buSzPts val="1575"/>
              <a:buFont typeface="Inter"/>
              <a:buNone/>
            </a:pPr>
            <a:r>
              <a:rPr b="0" i="0" lang="en-US" sz="1575" u="none" cap="none" strike="noStrike">
                <a:solidFill>
                  <a:srgbClr val="F87171"/>
                </a:solidFill>
                <a:latin typeface="Inter"/>
                <a:ea typeface="Inter"/>
                <a:cs typeface="Inter"/>
                <a:sym typeface="Inter"/>
              </a:rPr>
              <a:t>No explanation</a:t>
            </a:r>
            <a:endParaRPr b="0" i="0" sz="1575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Clr>
                <a:srgbClr val="F87171"/>
              </a:buClr>
              <a:buSzPts val="1575"/>
              <a:buFont typeface="Inter"/>
              <a:buNone/>
            </a:pPr>
            <a:r>
              <a:rPr b="0" i="0" lang="en-US" sz="1575" u="none" cap="none" strike="noStrike">
                <a:solidFill>
                  <a:srgbClr val="F87171"/>
                </a:solidFill>
                <a:latin typeface="Inter"/>
                <a:ea typeface="Inter"/>
                <a:cs typeface="Inter"/>
                <a:sym typeface="Inter"/>
              </a:rPr>
              <a:t>No skill-gap analysis</a:t>
            </a:r>
            <a:endParaRPr b="0" i="0" sz="1575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Clr>
                <a:srgbClr val="F87171"/>
              </a:buClr>
              <a:buSzPts val="1575"/>
              <a:buFont typeface="Inter"/>
              <a:buNone/>
            </a:pPr>
            <a:r>
              <a:rPr b="0" i="0" lang="en-US" sz="1575" u="none" cap="none" strike="noStrike">
                <a:solidFill>
                  <a:srgbClr val="F87171"/>
                </a:solidFill>
                <a:latin typeface="Inter"/>
                <a:ea typeface="Inter"/>
                <a:cs typeface="Inter"/>
                <a:sym typeface="Inter"/>
              </a:rPr>
              <a:t>No personalized upskilling</a:t>
            </a:r>
            <a:endParaRPr b="0" i="0" sz="1575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descr="preencoded.png" id="37" name="Google Shape;37;g409e8322e33_0_4"/>
          <p:cNvPicPr preferRelativeResize="0"/>
          <p:nvPr/>
        </p:nvPicPr>
        <p:blipFill rotWithShape="1">
          <a:blip r:embed="rId7">
            <a:alphaModFix/>
          </a:blip>
          <a:srcRect b="0" l="0" r="0" t="0"/>
          <a:stretch/>
        </p:blipFill>
        <p:spPr>
          <a:xfrm>
            <a:off x="952500" y="7429500"/>
            <a:ext cx="3810000" cy="1809750"/>
          </a:xfrm>
          <a:prstGeom prst="rect">
            <a:avLst/>
          </a:prstGeom>
          <a:noFill/>
          <a:ln>
            <a:noFill/>
          </a:ln>
        </p:spPr>
      </p:pic>
      <p:sp>
        <p:nvSpPr>
          <p:cNvPr id="38" name="Google Shape;38;g409e8322e33_0_4"/>
          <p:cNvSpPr/>
          <p:nvPr/>
        </p:nvSpPr>
        <p:spPr>
          <a:xfrm>
            <a:off x="1143000" y="7810500"/>
            <a:ext cx="3429000" cy="800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22D3EE"/>
              </a:buClr>
              <a:buSzPts val="4200"/>
              <a:buFont typeface="Poppins"/>
              <a:buNone/>
            </a:pPr>
            <a:r>
              <a:rPr b="1" i="0" lang="en-US" sz="4200" u="none" cap="none" strike="noStrike">
                <a:solidFill>
                  <a:srgbClr val="22D3EE"/>
                </a:solidFill>
                <a:latin typeface="Poppins"/>
                <a:ea typeface="Poppins"/>
                <a:cs typeface="Poppins"/>
                <a:sym typeface="Poppins"/>
              </a:rPr>
              <a:t>1,500+</a:t>
            </a:r>
            <a:endParaRPr b="0" i="0" sz="4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9" name="Google Shape;39;g409e8322e33_0_4"/>
          <p:cNvSpPr/>
          <p:nvPr/>
        </p:nvSpPr>
        <p:spPr>
          <a:xfrm>
            <a:off x="1143000" y="8572500"/>
            <a:ext cx="3429000" cy="324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94A3B8"/>
              </a:buClr>
              <a:buSzPts val="1650"/>
              <a:buFont typeface="Inter"/>
              <a:buNone/>
            </a:pPr>
            <a:r>
              <a:rPr b="0" i="0" lang="en-US" sz="1650" u="none" cap="none" strike="noStrike">
                <a:solidFill>
                  <a:srgbClr val="94A3B8"/>
                </a:solidFill>
                <a:latin typeface="Inter"/>
                <a:ea typeface="Inter"/>
                <a:cs typeface="Inter"/>
                <a:sym typeface="Inter"/>
              </a:rPr>
              <a:t>Resumes Evaluated</a:t>
            </a:r>
            <a:endParaRPr b="0" i="0" sz="16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descr="preencoded.png" id="40" name="Google Shape;40;g409e8322e33_0_4"/>
          <p:cNvPicPr preferRelativeResize="0"/>
          <p:nvPr/>
        </p:nvPicPr>
        <p:blipFill rotWithShape="1">
          <a:blip r:embed="rId7">
            <a:alphaModFix/>
          </a:blip>
          <a:srcRect b="0" l="0" r="0" t="0"/>
          <a:stretch/>
        </p:blipFill>
        <p:spPr>
          <a:xfrm>
            <a:off x="5143500" y="7429500"/>
            <a:ext cx="3810000" cy="1809750"/>
          </a:xfrm>
          <a:prstGeom prst="rect">
            <a:avLst/>
          </a:prstGeom>
          <a:noFill/>
          <a:ln>
            <a:noFill/>
          </a:ln>
        </p:spPr>
      </p:pic>
      <p:sp>
        <p:nvSpPr>
          <p:cNvPr id="41" name="Google Shape;41;g409e8322e33_0_4"/>
          <p:cNvSpPr/>
          <p:nvPr/>
        </p:nvSpPr>
        <p:spPr>
          <a:xfrm>
            <a:off x="5334000" y="7810500"/>
            <a:ext cx="3429000" cy="800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22D3EE"/>
              </a:buClr>
              <a:buSzPts val="4200"/>
              <a:buFont typeface="Poppins"/>
              <a:buNone/>
            </a:pPr>
            <a:r>
              <a:rPr b="1" i="0" lang="en-US" sz="4200" u="none" cap="none" strike="noStrike">
                <a:solidFill>
                  <a:srgbClr val="22D3EE"/>
                </a:solidFill>
                <a:latin typeface="Poppins"/>
                <a:ea typeface="Poppins"/>
                <a:cs typeface="Poppins"/>
                <a:sym typeface="Poppins"/>
              </a:rPr>
              <a:t>300</a:t>
            </a:r>
            <a:endParaRPr b="0" i="0" sz="4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2" name="Google Shape;42;g409e8322e33_0_4"/>
          <p:cNvSpPr/>
          <p:nvPr/>
        </p:nvSpPr>
        <p:spPr>
          <a:xfrm>
            <a:off x="5334000" y="8572500"/>
            <a:ext cx="3429000" cy="324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94A3B8"/>
              </a:buClr>
              <a:buSzPts val="1650"/>
              <a:buFont typeface="Inter"/>
              <a:buNone/>
            </a:pPr>
            <a:r>
              <a:rPr b="0" i="0" lang="en-US" sz="1650" u="none" cap="none" strike="noStrike">
                <a:solidFill>
                  <a:srgbClr val="94A3B8"/>
                </a:solidFill>
                <a:latin typeface="Inter"/>
                <a:ea typeface="Inter"/>
                <a:cs typeface="Inter"/>
                <a:sym typeface="Inter"/>
              </a:rPr>
              <a:t>Job Postings</a:t>
            </a:r>
            <a:endParaRPr b="0" i="0" sz="16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descr="preencoded.png" id="43" name="Google Shape;43;g409e8322e33_0_4"/>
          <p:cNvPicPr preferRelativeResize="0"/>
          <p:nvPr/>
        </p:nvPicPr>
        <p:blipFill rotWithShape="1">
          <a:blip r:embed="rId7">
            <a:alphaModFix/>
          </a:blip>
          <a:srcRect b="0" l="0" r="0" t="0"/>
          <a:stretch/>
        </p:blipFill>
        <p:spPr>
          <a:xfrm>
            <a:off x="9334500" y="7429500"/>
            <a:ext cx="3810000" cy="1809750"/>
          </a:xfrm>
          <a:prstGeom prst="rect">
            <a:avLst/>
          </a:prstGeom>
          <a:noFill/>
          <a:ln>
            <a:noFill/>
          </a:ln>
        </p:spPr>
      </p:pic>
      <p:sp>
        <p:nvSpPr>
          <p:cNvPr id="44" name="Google Shape;44;g409e8322e33_0_4"/>
          <p:cNvSpPr/>
          <p:nvPr/>
        </p:nvSpPr>
        <p:spPr>
          <a:xfrm>
            <a:off x="9525000" y="7810500"/>
            <a:ext cx="3429000" cy="800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8B5CF6"/>
              </a:buClr>
              <a:buSzPts val="4200"/>
              <a:buFont typeface="Poppins"/>
              <a:buNone/>
            </a:pPr>
            <a:r>
              <a:rPr b="1" i="0" lang="en-US" sz="4200" u="none" cap="none" strike="noStrike">
                <a:solidFill>
                  <a:srgbClr val="8B5CF6"/>
                </a:solidFill>
                <a:latin typeface="Poppins"/>
                <a:ea typeface="Poppins"/>
                <a:cs typeface="Poppins"/>
                <a:sym typeface="Poppins"/>
              </a:rPr>
              <a:t>92%</a:t>
            </a:r>
            <a:endParaRPr b="0" i="0" sz="4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5" name="Google Shape;45;g409e8322e33_0_4"/>
          <p:cNvSpPr/>
          <p:nvPr/>
        </p:nvSpPr>
        <p:spPr>
          <a:xfrm>
            <a:off x="9525000" y="8572500"/>
            <a:ext cx="3429000" cy="324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94A3B8"/>
              </a:buClr>
              <a:buSzPts val="1650"/>
              <a:buFont typeface="Inter"/>
              <a:buNone/>
            </a:pPr>
            <a:r>
              <a:rPr b="0" i="0" lang="en-US" sz="1650" u="none" cap="none" strike="noStrike">
                <a:solidFill>
                  <a:srgbClr val="94A3B8"/>
                </a:solidFill>
                <a:latin typeface="Inter"/>
                <a:ea typeface="Inter"/>
                <a:cs typeface="Inter"/>
                <a:sym typeface="Inter"/>
              </a:rPr>
              <a:t>Skill-Gap Detection</a:t>
            </a:r>
            <a:endParaRPr b="0" i="0" sz="16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descr="preencoded.png" id="46" name="Google Shape;46;g409e8322e33_0_4"/>
          <p:cNvPicPr preferRelativeResize="0"/>
          <p:nvPr/>
        </p:nvPicPr>
        <p:blipFill rotWithShape="1">
          <a:blip r:embed="rId7">
            <a:alphaModFix/>
          </a:blip>
          <a:srcRect b="0" l="0" r="0" t="0"/>
          <a:stretch/>
        </p:blipFill>
        <p:spPr>
          <a:xfrm>
            <a:off x="13525500" y="7429500"/>
            <a:ext cx="3810000" cy="1809750"/>
          </a:xfrm>
          <a:prstGeom prst="rect">
            <a:avLst/>
          </a:prstGeom>
          <a:noFill/>
          <a:ln>
            <a:noFill/>
          </a:ln>
        </p:spPr>
      </p:pic>
      <p:sp>
        <p:nvSpPr>
          <p:cNvPr id="47" name="Google Shape;47;g409e8322e33_0_4"/>
          <p:cNvSpPr/>
          <p:nvPr/>
        </p:nvSpPr>
        <p:spPr>
          <a:xfrm>
            <a:off x="13716000" y="7810500"/>
            <a:ext cx="3429000" cy="800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8B5CF6"/>
              </a:buClr>
              <a:buSzPts val="4200"/>
              <a:buFont typeface="Poppins"/>
              <a:buNone/>
            </a:pPr>
            <a:r>
              <a:rPr b="1" i="0" lang="en-US" sz="4200" u="none" cap="none" strike="noStrike">
                <a:solidFill>
                  <a:srgbClr val="8B5CF6"/>
                </a:solidFill>
                <a:latin typeface="Poppins"/>
                <a:ea typeface="Poppins"/>
                <a:cs typeface="Poppins"/>
                <a:sym typeface="Poppins"/>
              </a:rPr>
              <a:t>4.6/5</a:t>
            </a:r>
            <a:endParaRPr b="0" i="0" sz="4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8" name="Google Shape;48;g409e8322e33_0_4"/>
          <p:cNvSpPr/>
          <p:nvPr/>
        </p:nvSpPr>
        <p:spPr>
          <a:xfrm>
            <a:off x="13716000" y="8572500"/>
            <a:ext cx="3429000" cy="324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94A3B8"/>
              </a:buClr>
              <a:buSzPts val="1650"/>
              <a:buFont typeface="Inter"/>
              <a:buNone/>
            </a:pPr>
            <a:r>
              <a:rPr b="0" i="0" lang="en-US" sz="1650" u="none" cap="none" strike="noStrike">
                <a:solidFill>
                  <a:srgbClr val="94A3B8"/>
                </a:solidFill>
                <a:latin typeface="Inter"/>
                <a:ea typeface="Inter"/>
                <a:cs typeface="Inter"/>
                <a:sym typeface="Inter"/>
              </a:rPr>
              <a:t>User Satisfaction</a:t>
            </a:r>
            <a:endParaRPr b="0" i="0" sz="16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blipFill>
          <a:blip r:embed="rId3">
            <a:alphaModFix/>
          </a:blip>
          <a:stretch>
            <a:fillRect/>
          </a:stretch>
        </a:blipFill>
      </p:bgPr>
    </p:bg>
    <p:spTree>
      <p:nvGrpSpPr>
        <p:cNvPr id="53" name="Shape 5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preencoded.png" id="54" name="Google Shape;54;p2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952500" y="685800"/>
            <a:ext cx="571500" cy="57150"/>
          </a:xfrm>
          <a:prstGeom prst="rect">
            <a:avLst/>
          </a:prstGeom>
          <a:noFill/>
          <a:ln>
            <a:noFill/>
          </a:ln>
        </p:spPr>
      </p:pic>
      <p:sp>
        <p:nvSpPr>
          <p:cNvPr id="55" name="Google Shape;55;p2"/>
          <p:cNvSpPr/>
          <p:nvPr/>
        </p:nvSpPr>
        <p:spPr>
          <a:xfrm>
            <a:off x="1714500" y="590550"/>
            <a:ext cx="5715000" cy="342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22D3EE"/>
              </a:buClr>
              <a:buSzPts val="1800"/>
              <a:buFont typeface="Inter"/>
              <a:buNone/>
            </a:pPr>
            <a:r>
              <a:rPr b="1" i="0" lang="en-US" sz="1800" u="none" cap="none" strike="noStrike">
                <a:solidFill>
                  <a:srgbClr val="22D3EE"/>
                </a:solidFill>
                <a:latin typeface="Inter"/>
                <a:ea typeface="Inter"/>
                <a:cs typeface="Inter"/>
                <a:sym typeface="Inter"/>
              </a:rPr>
              <a:t>OUR SOLUTION · 02</a:t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6" name="Google Shape;56;p2"/>
          <p:cNvSpPr/>
          <p:nvPr/>
        </p:nvSpPr>
        <p:spPr>
          <a:xfrm>
            <a:off x="952500" y="1047750"/>
            <a:ext cx="13335000" cy="762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4050"/>
              <a:buFont typeface="Poppins"/>
              <a:buNone/>
            </a:pPr>
            <a:r>
              <a:rPr b="1" i="0" lang="en-US" sz="4050" u="none" cap="none" strike="noStrike">
                <a:solidFill>
                  <a:srgbClr val="FFFFFF"/>
                </a:solidFill>
                <a:latin typeface="Poppins"/>
                <a:ea typeface="Poppins"/>
                <a:cs typeface="Poppins"/>
                <a:sym typeface="Poppins"/>
              </a:rPr>
              <a:t>AI-Powered Resume–Job Intelligence</a:t>
            </a:r>
            <a:endParaRPr b="0" i="0" sz="40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7" name="Google Shape;57;p2"/>
          <p:cNvSpPr/>
          <p:nvPr/>
        </p:nvSpPr>
        <p:spPr>
          <a:xfrm>
            <a:off x="952500" y="1905000"/>
            <a:ext cx="14287500" cy="381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94A3B8"/>
              </a:buClr>
              <a:buSzPts val="1950"/>
              <a:buFont typeface="Inter"/>
              <a:buNone/>
            </a:pPr>
            <a:r>
              <a:rPr b="0" i="0" lang="en-US" sz="1950" u="none" cap="none" strike="noStrike">
                <a:solidFill>
                  <a:srgbClr val="94A3B8"/>
                </a:solidFill>
                <a:latin typeface="Inter"/>
                <a:ea typeface="Inter"/>
                <a:cs typeface="Inter"/>
                <a:sym typeface="Inter"/>
              </a:rPr>
              <a:t>Semantic matching, skill-gap detection, and personalized upskilling in one platform.</a:t>
            </a:r>
            <a:endParaRPr b="0" i="0" sz="19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8" name="Google Shape;58;p2"/>
          <p:cNvSpPr/>
          <p:nvPr/>
        </p:nvSpPr>
        <p:spPr>
          <a:xfrm>
            <a:off x="952500" y="2762250"/>
            <a:ext cx="7620000" cy="3143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8B5CF6"/>
              </a:buClr>
              <a:buSzPts val="1650"/>
              <a:buFont typeface="Inter"/>
              <a:buNone/>
            </a:pPr>
            <a:r>
              <a:rPr b="1" i="0" lang="en-US" sz="1650" u="none" cap="none" strike="noStrike">
                <a:solidFill>
                  <a:srgbClr val="8B5CF6"/>
                </a:solidFill>
                <a:latin typeface="Inter"/>
                <a:ea typeface="Inter"/>
                <a:cs typeface="Inter"/>
                <a:sym typeface="Inter"/>
              </a:rPr>
              <a:t>FOR:  Students  ·  Job Seekers  ·  Recruiters</a:t>
            </a:r>
            <a:endParaRPr b="0" i="0" sz="16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descr="preencoded.png" id="59" name="Google Shape;59;p2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952500" y="3429000"/>
            <a:ext cx="16383000" cy="2000250"/>
          </a:xfrm>
          <a:prstGeom prst="rect">
            <a:avLst/>
          </a:prstGeom>
          <a:noFill/>
          <a:ln>
            <a:noFill/>
          </a:ln>
        </p:spPr>
      </p:pic>
      <p:sp>
        <p:nvSpPr>
          <p:cNvPr id="60" name="Google Shape;60;p2"/>
          <p:cNvSpPr/>
          <p:nvPr/>
        </p:nvSpPr>
        <p:spPr>
          <a:xfrm>
            <a:off x="1333500" y="3714750"/>
            <a:ext cx="7620000" cy="116205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-342900" lvl="0" marL="342900" marR="0" rtl="0" algn="l">
              <a:lnSpc>
                <a:spcPct val="170000"/>
              </a:lnSpc>
              <a:spcBef>
                <a:spcPts val="0"/>
              </a:spcBef>
              <a:spcAft>
                <a:spcPts val="0"/>
              </a:spcAft>
              <a:buClr>
                <a:srgbClr val="E2E8F0"/>
              </a:buClr>
              <a:buSzPts val="1800"/>
              <a:buFont typeface="Inter"/>
              <a:buChar char="•"/>
            </a:pPr>
            <a:r>
              <a:rPr b="0" i="0" lang="en-US" sz="1800" u="none" cap="none" strike="noStrike">
                <a:solidFill>
                  <a:srgbClr val="E2E8F0"/>
                </a:solidFill>
                <a:latin typeface="Inter"/>
                <a:ea typeface="Inter"/>
                <a:cs typeface="Inter"/>
                <a:sym typeface="Inter"/>
              </a:rPr>
              <a:t>Resume parsing &amp; job-description analysis</a:t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342900" lvl="0" marL="342900" marR="0" rtl="0" algn="l">
              <a:lnSpc>
                <a:spcPct val="170000"/>
              </a:lnSpc>
              <a:spcBef>
                <a:spcPts val="0"/>
              </a:spcBef>
              <a:spcAft>
                <a:spcPts val="0"/>
              </a:spcAft>
              <a:buClr>
                <a:srgbClr val="E2E8F0"/>
              </a:buClr>
              <a:buSzPts val="1800"/>
              <a:buFont typeface="Inter"/>
              <a:buChar char="•"/>
            </a:pPr>
            <a:r>
              <a:rPr b="0" i="0" lang="en-US" sz="1800" u="none" cap="none" strike="noStrike">
                <a:solidFill>
                  <a:srgbClr val="E2E8F0"/>
                </a:solidFill>
                <a:latin typeface="Inter"/>
                <a:ea typeface="Inter"/>
                <a:cs typeface="Inter"/>
                <a:sym typeface="Inter"/>
              </a:rPr>
              <a:t>AI entity &amp; skill extraction</a:t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342900" lvl="0" marL="342900" marR="0" rtl="0" algn="l">
              <a:lnSpc>
                <a:spcPct val="170000"/>
              </a:lnSpc>
              <a:spcBef>
                <a:spcPts val="0"/>
              </a:spcBef>
              <a:spcAft>
                <a:spcPts val="0"/>
              </a:spcAft>
              <a:buClr>
                <a:srgbClr val="E2E8F0"/>
              </a:buClr>
              <a:buSzPts val="1800"/>
              <a:buFont typeface="Inter"/>
              <a:buChar char="•"/>
            </a:pPr>
            <a:r>
              <a:rPr b="0" i="0" lang="en-US" sz="1800" u="none" cap="none" strike="noStrike">
                <a:solidFill>
                  <a:srgbClr val="E2E8F0"/>
                </a:solidFill>
                <a:latin typeface="Inter"/>
                <a:ea typeface="Inter"/>
                <a:cs typeface="Inter"/>
                <a:sym typeface="Inter"/>
              </a:rPr>
              <a:t>Semantic matching + graph analysis</a:t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1" name="Google Shape;61;p2"/>
          <p:cNvSpPr/>
          <p:nvPr/>
        </p:nvSpPr>
        <p:spPr>
          <a:xfrm>
            <a:off x="9144000" y="3714750"/>
            <a:ext cx="7810500" cy="116205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-342900" lvl="0" marL="342900" marR="0" rtl="0" algn="l">
              <a:lnSpc>
                <a:spcPct val="170000"/>
              </a:lnSpc>
              <a:spcBef>
                <a:spcPts val="0"/>
              </a:spcBef>
              <a:spcAft>
                <a:spcPts val="0"/>
              </a:spcAft>
              <a:buClr>
                <a:srgbClr val="E2E8F0"/>
              </a:buClr>
              <a:buSzPts val="1800"/>
              <a:buFont typeface="Inter"/>
              <a:buChar char="•"/>
            </a:pPr>
            <a:r>
              <a:rPr b="0" i="0" lang="en-US" sz="1800" u="none" cap="none" strike="noStrike">
                <a:solidFill>
                  <a:srgbClr val="E2E8F0"/>
                </a:solidFill>
                <a:latin typeface="Inter"/>
                <a:ea typeface="Inter"/>
                <a:cs typeface="Inter"/>
                <a:sym typeface="Inter"/>
              </a:rPr>
              <a:t>Skill-gap detection &amp; feedback</a:t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342900" lvl="0" marL="342900" marR="0" rtl="0" algn="l">
              <a:lnSpc>
                <a:spcPct val="170000"/>
              </a:lnSpc>
              <a:spcBef>
                <a:spcPts val="0"/>
              </a:spcBef>
              <a:spcAft>
                <a:spcPts val="0"/>
              </a:spcAft>
              <a:buClr>
                <a:srgbClr val="E2E8F0"/>
              </a:buClr>
              <a:buSzPts val="1800"/>
              <a:buFont typeface="Inter"/>
              <a:buChar char="•"/>
            </a:pPr>
            <a:r>
              <a:rPr b="0" i="0" lang="en-US" sz="1800" u="none" cap="none" strike="noStrike">
                <a:solidFill>
                  <a:srgbClr val="E2E8F0"/>
                </a:solidFill>
                <a:latin typeface="Inter"/>
                <a:ea typeface="Inter"/>
                <a:cs typeface="Inter"/>
                <a:sym typeface="Inter"/>
              </a:rPr>
              <a:t>Personalized course recommendations</a:t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342900" lvl="0" marL="342900" marR="0" rtl="0" algn="l">
              <a:lnSpc>
                <a:spcPct val="170000"/>
              </a:lnSpc>
              <a:spcBef>
                <a:spcPts val="0"/>
              </a:spcBef>
              <a:spcAft>
                <a:spcPts val="0"/>
              </a:spcAft>
              <a:buClr>
                <a:srgbClr val="E2E8F0"/>
              </a:buClr>
              <a:buSzPts val="1800"/>
              <a:buFont typeface="Inter"/>
              <a:buChar char="•"/>
            </a:pPr>
            <a:r>
              <a:rPr b="0" i="0" lang="en-US" sz="1800" u="none" cap="none" strike="noStrike">
                <a:solidFill>
                  <a:srgbClr val="E2E8F0"/>
                </a:solidFill>
                <a:latin typeface="Inter"/>
                <a:ea typeface="Inter"/>
                <a:cs typeface="Inter"/>
                <a:sym typeface="Inter"/>
              </a:rPr>
              <a:t>Career-path suggestions</a:t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2" name="Google Shape;62;p2"/>
          <p:cNvSpPr/>
          <p:nvPr/>
        </p:nvSpPr>
        <p:spPr>
          <a:xfrm>
            <a:off x="952500" y="5810250"/>
            <a:ext cx="5715000" cy="32385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22D3EE"/>
              </a:buClr>
              <a:buSzPts val="1650"/>
              <a:buFont typeface="Inter"/>
              <a:buNone/>
            </a:pPr>
            <a:r>
              <a:rPr b="1" i="0" lang="en-US" sz="1650" u="none" cap="none" strike="noStrike">
                <a:solidFill>
                  <a:srgbClr val="22D3EE"/>
                </a:solidFill>
                <a:latin typeface="Inter"/>
                <a:ea typeface="Inter"/>
                <a:cs typeface="Inter"/>
                <a:sym typeface="Inter"/>
              </a:rPr>
              <a:t>END-TO-END WORKFLOW</a:t>
            </a:r>
            <a:endParaRPr b="0" i="0" sz="16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descr="preencoded.png" id="63" name="Google Shape;63;p2"/>
          <p:cNvPicPr preferRelativeResize="0"/>
          <p:nvPr/>
        </p:nvPicPr>
        <p:blipFill rotWithShape="1">
          <a:blip r:embed="rId6">
            <a:alphaModFix/>
          </a:blip>
          <a:srcRect b="0" l="0" r="0" t="0"/>
          <a:stretch/>
        </p:blipFill>
        <p:spPr>
          <a:xfrm>
            <a:off x="952500" y="6381750"/>
            <a:ext cx="3810000" cy="1047750"/>
          </a:xfrm>
          <a:prstGeom prst="rect">
            <a:avLst/>
          </a:prstGeom>
          <a:noFill/>
          <a:ln>
            <a:noFill/>
          </a:ln>
        </p:spPr>
      </p:pic>
      <p:sp>
        <p:nvSpPr>
          <p:cNvPr id="64" name="Google Shape;64;p2"/>
          <p:cNvSpPr/>
          <p:nvPr/>
        </p:nvSpPr>
        <p:spPr>
          <a:xfrm>
            <a:off x="1143000" y="6715125"/>
            <a:ext cx="3429000" cy="33337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725"/>
              <a:buFont typeface="Inter"/>
              <a:buNone/>
            </a:pPr>
            <a:r>
              <a:rPr b="1" i="0" lang="en-US" sz="1725" u="none" cap="none" strike="noStrike">
                <a:solidFill>
                  <a:srgbClr val="FFFFFF"/>
                </a:solidFill>
                <a:latin typeface="Inter"/>
                <a:ea typeface="Inter"/>
                <a:cs typeface="Inter"/>
                <a:sym typeface="Inter"/>
              </a:rPr>
              <a:t>Upload Resume</a:t>
            </a:r>
            <a:endParaRPr b="0" i="0" sz="1725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descr="preencoded.png" id="65" name="Google Shape;65;p2"/>
          <p:cNvPicPr preferRelativeResize="0"/>
          <p:nvPr/>
        </p:nvPicPr>
        <p:blipFill rotWithShape="1">
          <a:blip r:embed="rId6">
            <a:alphaModFix/>
          </a:blip>
          <a:srcRect b="0" l="0" r="0" t="0"/>
          <a:stretch/>
        </p:blipFill>
        <p:spPr>
          <a:xfrm>
            <a:off x="5143500" y="6381750"/>
            <a:ext cx="3810000" cy="1047750"/>
          </a:xfrm>
          <a:prstGeom prst="rect">
            <a:avLst/>
          </a:prstGeom>
          <a:noFill/>
          <a:ln>
            <a:noFill/>
          </a:ln>
        </p:spPr>
      </p:pic>
      <p:sp>
        <p:nvSpPr>
          <p:cNvPr id="66" name="Google Shape;66;p2"/>
          <p:cNvSpPr/>
          <p:nvPr/>
        </p:nvSpPr>
        <p:spPr>
          <a:xfrm>
            <a:off x="5334000" y="6715125"/>
            <a:ext cx="3429000" cy="33337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725"/>
              <a:buFont typeface="Inter"/>
              <a:buNone/>
            </a:pPr>
            <a:r>
              <a:rPr b="1" i="0" lang="en-US" sz="1725" u="none" cap="none" strike="noStrike">
                <a:solidFill>
                  <a:srgbClr val="FFFFFF"/>
                </a:solidFill>
                <a:latin typeface="Inter"/>
                <a:ea typeface="Inter"/>
                <a:cs typeface="Inter"/>
                <a:sym typeface="Inter"/>
              </a:rPr>
              <a:t>Enter Job Description</a:t>
            </a:r>
            <a:endParaRPr b="0" i="0" sz="1725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descr="preencoded.png" id="67" name="Google Shape;67;p2"/>
          <p:cNvPicPr preferRelativeResize="0"/>
          <p:nvPr/>
        </p:nvPicPr>
        <p:blipFill rotWithShape="1">
          <a:blip r:embed="rId6">
            <a:alphaModFix/>
          </a:blip>
          <a:srcRect b="0" l="0" r="0" t="0"/>
          <a:stretch/>
        </p:blipFill>
        <p:spPr>
          <a:xfrm>
            <a:off x="9334500" y="6381750"/>
            <a:ext cx="3810000" cy="1047750"/>
          </a:xfrm>
          <a:prstGeom prst="rect">
            <a:avLst/>
          </a:prstGeom>
          <a:noFill/>
          <a:ln>
            <a:noFill/>
          </a:ln>
        </p:spPr>
      </p:pic>
      <p:sp>
        <p:nvSpPr>
          <p:cNvPr id="68" name="Google Shape;68;p2"/>
          <p:cNvSpPr/>
          <p:nvPr/>
        </p:nvSpPr>
        <p:spPr>
          <a:xfrm>
            <a:off x="9525000" y="6715125"/>
            <a:ext cx="3429000" cy="33337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725"/>
              <a:buFont typeface="Inter"/>
              <a:buNone/>
            </a:pPr>
            <a:r>
              <a:rPr b="1" i="0" lang="en-US" sz="1725" u="none" cap="none" strike="noStrike">
                <a:solidFill>
                  <a:srgbClr val="FFFFFF"/>
                </a:solidFill>
                <a:latin typeface="Inter"/>
                <a:ea typeface="Inter"/>
                <a:cs typeface="Inter"/>
                <a:sym typeface="Inter"/>
              </a:rPr>
              <a:t>Extract Skills &amp; Entities</a:t>
            </a:r>
            <a:endParaRPr b="0" i="0" sz="1725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descr="preencoded.png" id="69" name="Google Shape;69;p2"/>
          <p:cNvPicPr preferRelativeResize="0"/>
          <p:nvPr/>
        </p:nvPicPr>
        <p:blipFill rotWithShape="1">
          <a:blip r:embed="rId6">
            <a:alphaModFix/>
          </a:blip>
          <a:srcRect b="0" l="0" r="0" t="0"/>
          <a:stretch/>
        </p:blipFill>
        <p:spPr>
          <a:xfrm>
            <a:off x="13525500" y="6381750"/>
            <a:ext cx="3810000" cy="1047750"/>
          </a:xfrm>
          <a:prstGeom prst="rect">
            <a:avLst/>
          </a:prstGeom>
          <a:noFill/>
          <a:ln>
            <a:noFill/>
          </a:ln>
        </p:spPr>
      </p:pic>
      <p:sp>
        <p:nvSpPr>
          <p:cNvPr id="70" name="Google Shape;70;p2"/>
          <p:cNvSpPr/>
          <p:nvPr/>
        </p:nvSpPr>
        <p:spPr>
          <a:xfrm>
            <a:off x="13716000" y="6715125"/>
            <a:ext cx="3429000" cy="33337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725"/>
              <a:buFont typeface="Inter"/>
              <a:buNone/>
            </a:pPr>
            <a:r>
              <a:rPr b="1" i="0" lang="en-US" sz="1725" u="none" cap="none" strike="noStrike">
                <a:solidFill>
                  <a:srgbClr val="FFFFFF"/>
                </a:solidFill>
                <a:latin typeface="Inter"/>
                <a:ea typeface="Inter"/>
                <a:cs typeface="Inter"/>
                <a:sym typeface="Inter"/>
              </a:rPr>
              <a:t>Semantic Embeddings</a:t>
            </a:r>
            <a:endParaRPr b="0" i="0" sz="1725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descr="preencoded.png" id="71" name="Google Shape;71;p2"/>
          <p:cNvPicPr preferRelativeResize="0"/>
          <p:nvPr/>
        </p:nvPicPr>
        <p:blipFill rotWithShape="1">
          <a:blip r:embed="rId7">
            <a:alphaModFix/>
          </a:blip>
          <a:srcRect b="0" l="0" r="0" t="0"/>
          <a:stretch/>
        </p:blipFill>
        <p:spPr>
          <a:xfrm>
            <a:off x="952500" y="7905750"/>
            <a:ext cx="3810000" cy="1047750"/>
          </a:xfrm>
          <a:prstGeom prst="rect">
            <a:avLst/>
          </a:prstGeom>
          <a:noFill/>
          <a:ln>
            <a:noFill/>
          </a:ln>
        </p:spPr>
      </p:pic>
      <p:sp>
        <p:nvSpPr>
          <p:cNvPr id="72" name="Google Shape;72;p2"/>
          <p:cNvSpPr/>
          <p:nvPr/>
        </p:nvSpPr>
        <p:spPr>
          <a:xfrm>
            <a:off x="1143000" y="8239125"/>
            <a:ext cx="3429000" cy="33337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725"/>
              <a:buFont typeface="Inter"/>
              <a:buNone/>
            </a:pPr>
            <a:r>
              <a:rPr b="1" i="0" lang="en-US" sz="1725" u="none" cap="none" strike="noStrike">
                <a:solidFill>
                  <a:srgbClr val="FFFFFF"/>
                </a:solidFill>
                <a:latin typeface="Inter"/>
                <a:ea typeface="Inter"/>
                <a:cs typeface="Inter"/>
                <a:sym typeface="Inter"/>
              </a:rPr>
              <a:t>Calculate Match</a:t>
            </a:r>
            <a:endParaRPr b="0" i="0" sz="1725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descr="preencoded.png" id="73" name="Google Shape;73;p2"/>
          <p:cNvPicPr preferRelativeResize="0"/>
          <p:nvPr/>
        </p:nvPicPr>
        <p:blipFill rotWithShape="1">
          <a:blip r:embed="rId7">
            <a:alphaModFix/>
          </a:blip>
          <a:srcRect b="0" l="0" r="0" t="0"/>
          <a:stretch/>
        </p:blipFill>
        <p:spPr>
          <a:xfrm>
            <a:off x="5143500" y="7905750"/>
            <a:ext cx="3810000" cy="1047750"/>
          </a:xfrm>
          <a:prstGeom prst="rect">
            <a:avLst/>
          </a:prstGeom>
          <a:noFill/>
          <a:ln>
            <a:noFill/>
          </a:ln>
        </p:spPr>
      </p:pic>
      <p:sp>
        <p:nvSpPr>
          <p:cNvPr id="74" name="Google Shape;74;p2"/>
          <p:cNvSpPr/>
          <p:nvPr/>
        </p:nvSpPr>
        <p:spPr>
          <a:xfrm>
            <a:off x="5334000" y="8239125"/>
            <a:ext cx="3429000" cy="33337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725"/>
              <a:buFont typeface="Inter"/>
              <a:buNone/>
            </a:pPr>
            <a:r>
              <a:rPr b="1" i="0" lang="en-US" sz="1725" u="none" cap="none" strike="noStrike">
                <a:solidFill>
                  <a:srgbClr val="FFFFFF"/>
                </a:solidFill>
                <a:latin typeface="Inter"/>
                <a:ea typeface="Inter"/>
                <a:cs typeface="Inter"/>
                <a:sym typeface="Inter"/>
              </a:rPr>
              <a:t>Graph-Based Analysis</a:t>
            </a:r>
            <a:endParaRPr b="0" i="0" sz="1725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descr="preencoded.png" id="75" name="Google Shape;75;p2"/>
          <p:cNvPicPr preferRelativeResize="0"/>
          <p:nvPr/>
        </p:nvPicPr>
        <p:blipFill rotWithShape="1">
          <a:blip r:embed="rId7">
            <a:alphaModFix/>
          </a:blip>
          <a:srcRect b="0" l="0" r="0" t="0"/>
          <a:stretch/>
        </p:blipFill>
        <p:spPr>
          <a:xfrm>
            <a:off x="9334500" y="7905750"/>
            <a:ext cx="3810000" cy="1047750"/>
          </a:xfrm>
          <a:prstGeom prst="rect">
            <a:avLst/>
          </a:prstGeom>
          <a:noFill/>
          <a:ln>
            <a:noFill/>
          </a:ln>
        </p:spPr>
      </p:pic>
      <p:sp>
        <p:nvSpPr>
          <p:cNvPr id="76" name="Google Shape;76;p2"/>
          <p:cNvSpPr/>
          <p:nvPr/>
        </p:nvSpPr>
        <p:spPr>
          <a:xfrm>
            <a:off x="9525000" y="8239125"/>
            <a:ext cx="3429000" cy="33337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725"/>
              <a:buFont typeface="Inter"/>
              <a:buNone/>
            </a:pPr>
            <a:r>
              <a:rPr b="1" i="0" lang="en-US" sz="1725" u="none" cap="none" strike="noStrike">
                <a:solidFill>
                  <a:srgbClr val="FFFFFF"/>
                </a:solidFill>
                <a:latin typeface="Inter"/>
                <a:ea typeface="Inter"/>
                <a:cs typeface="Inter"/>
                <a:sym typeface="Inter"/>
              </a:rPr>
              <a:t>Identify Skill Gaps</a:t>
            </a:r>
            <a:endParaRPr b="0" i="0" sz="1725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descr="preencoded.png" id="77" name="Google Shape;77;p2"/>
          <p:cNvPicPr preferRelativeResize="0"/>
          <p:nvPr/>
        </p:nvPicPr>
        <p:blipFill rotWithShape="1">
          <a:blip r:embed="rId8">
            <a:alphaModFix/>
          </a:blip>
          <a:srcRect b="0" l="0" r="0" t="0"/>
          <a:stretch/>
        </p:blipFill>
        <p:spPr>
          <a:xfrm>
            <a:off x="13525500" y="7905750"/>
            <a:ext cx="3810000" cy="1047750"/>
          </a:xfrm>
          <a:prstGeom prst="rect">
            <a:avLst/>
          </a:prstGeom>
          <a:noFill/>
          <a:ln>
            <a:noFill/>
          </a:ln>
        </p:spPr>
      </p:pic>
      <p:sp>
        <p:nvSpPr>
          <p:cNvPr id="78" name="Google Shape;78;p2"/>
          <p:cNvSpPr/>
          <p:nvPr/>
        </p:nvSpPr>
        <p:spPr>
          <a:xfrm>
            <a:off x="13716000" y="8143875"/>
            <a:ext cx="3429000" cy="238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650"/>
              <a:buFont typeface="Inter"/>
              <a:buNone/>
            </a:pPr>
            <a:r>
              <a:rPr b="1" i="0" lang="en-US" sz="1650" u="none" cap="none" strike="noStrike">
                <a:solidFill>
                  <a:srgbClr val="FFFFFF"/>
                </a:solidFill>
                <a:latin typeface="Inter"/>
                <a:ea typeface="Inter"/>
                <a:cs typeface="Inter"/>
                <a:sym typeface="Inter"/>
              </a:rPr>
              <a:t>Personalized Recommendations</a:t>
            </a:r>
            <a:endParaRPr b="0" i="0" sz="16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blipFill>
          <a:blip r:embed="rId3">
            <a:alphaModFix/>
          </a:blip>
          <a:stretch>
            <a:fillRect/>
          </a:stretch>
        </a:blipFill>
      </p:bgPr>
    </p:bg>
    <p:spTree>
      <p:nvGrpSpPr>
        <p:cNvPr id="83" name="Shape 8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preencoded.png" id="84" name="Google Shape;84;p3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952500" y="685800"/>
            <a:ext cx="571500" cy="57150"/>
          </a:xfrm>
          <a:prstGeom prst="rect">
            <a:avLst/>
          </a:prstGeom>
          <a:noFill/>
          <a:ln>
            <a:noFill/>
          </a:ln>
        </p:spPr>
      </p:pic>
      <p:sp>
        <p:nvSpPr>
          <p:cNvPr id="85" name="Google Shape;85;p3"/>
          <p:cNvSpPr/>
          <p:nvPr/>
        </p:nvSpPr>
        <p:spPr>
          <a:xfrm>
            <a:off x="1714500" y="590550"/>
            <a:ext cx="5715000" cy="342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22D3EE"/>
              </a:buClr>
              <a:buSzPts val="1800"/>
              <a:buFont typeface="Inter"/>
              <a:buNone/>
            </a:pPr>
            <a:r>
              <a:rPr b="1" i="0" lang="en-US" sz="1800" u="none" cap="none" strike="noStrike">
                <a:solidFill>
                  <a:srgbClr val="22D3EE"/>
                </a:solidFill>
                <a:latin typeface="Inter"/>
                <a:ea typeface="Inter"/>
                <a:cs typeface="Inter"/>
                <a:sym typeface="Inter"/>
              </a:rPr>
              <a:t>DIFFERENTIATION · 03</a:t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86" name="Google Shape;86;p3"/>
          <p:cNvSpPr/>
          <p:nvPr/>
        </p:nvSpPr>
        <p:spPr>
          <a:xfrm>
            <a:off x="952500" y="1047750"/>
            <a:ext cx="14287500" cy="762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4050"/>
              <a:buFont typeface="Poppins"/>
              <a:buNone/>
            </a:pPr>
            <a:r>
              <a:rPr b="1" i="0" lang="en-US" sz="4050" u="none" cap="none" strike="noStrike">
                <a:solidFill>
                  <a:srgbClr val="FFFFFF"/>
                </a:solidFill>
                <a:latin typeface="Poppins"/>
                <a:ea typeface="Poppins"/>
                <a:cs typeface="Poppins"/>
                <a:sym typeface="Poppins"/>
              </a:rPr>
              <a:t>What Makes Our Solution Different?</a:t>
            </a:r>
            <a:endParaRPr b="0" i="0" sz="40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descr="preencoded.png" id="87" name="Google Shape;87;p3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952500" y="2190750"/>
            <a:ext cx="7905750" cy="4476750"/>
          </a:xfrm>
          <a:prstGeom prst="rect">
            <a:avLst/>
          </a:prstGeom>
          <a:noFill/>
          <a:ln>
            <a:noFill/>
          </a:ln>
        </p:spPr>
      </p:pic>
      <p:sp>
        <p:nvSpPr>
          <p:cNvPr id="88" name="Google Shape;88;p3"/>
          <p:cNvSpPr/>
          <p:nvPr/>
        </p:nvSpPr>
        <p:spPr>
          <a:xfrm>
            <a:off x="1333500" y="2476500"/>
            <a:ext cx="72390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87171"/>
              </a:buClr>
              <a:buSzPts val="2400"/>
              <a:buFont typeface="Poppins"/>
              <a:buNone/>
            </a:pPr>
            <a:r>
              <a:rPr b="1" i="0" lang="en-US" sz="2400" u="none" cap="none" strike="noStrike">
                <a:solidFill>
                  <a:srgbClr val="F87171"/>
                </a:solidFill>
                <a:latin typeface="Poppins"/>
                <a:ea typeface="Poppins"/>
                <a:cs typeface="Poppins"/>
                <a:sym typeface="Poppins"/>
              </a:rPr>
              <a:t>Existing ATS</a:t>
            </a:r>
            <a:endParaRPr b="0" i="0" sz="2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89" name="Google Shape;89;p3"/>
          <p:cNvSpPr/>
          <p:nvPr/>
        </p:nvSpPr>
        <p:spPr>
          <a:xfrm>
            <a:off x="1333500" y="3143250"/>
            <a:ext cx="7239000" cy="250507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-342900" lvl="0" marL="342900" marR="0" rtl="0" algn="l">
              <a:lnSpc>
                <a:spcPct val="175000"/>
              </a:lnSpc>
              <a:spcBef>
                <a:spcPts val="0"/>
              </a:spcBef>
              <a:spcAft>
                <a:spcPts val="0"/>
              </a:spcAft>
              <a:buClr>
                <a:srgbClr val="D1C4C9"/>
              </a:buClr>
              <a:buSzPts val="1875"/>
              <a:buFont typeface="Inter"/>
              <a:buChar char="•"/>
            </a:pPr>
            <a:r>
              <a:rPr b="0" i="0" lang="en-US" sz="1875" u="none" cap="none" strike="noStrike">
                <a:solidFill>
                  <a:srgbClr val="D1C4C9"/>
                </a:solidFill>
                <a:latin typeface="Inter"/>
                <a:ea typeface="Inter"/>
                <a:cs typeface="Inter"/>
                <a:sym typeface="Inter"/>
              </a:rPr>
              <a:t>Keyword matching</a:t>
            </a:r>
            <a:endParaRPr b="0" i="0" sz="1875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342900" lvl="0" marL="342900" marR="0" rtl="0" algn="l">
              <a:lnSpc>
                <a:spcPct val="175000"/>
              </a:lnSpc>
              <a:spcBef>
                <a:spcPts val="0"/>
              </a:spcBef>
              <a:spcAft>
                <a:spcPts val="0"/>
              </a:spcAft>
              <a:buClr>
                <a:srgbClr val="D1C4C9"/>
              </a:buClr>
              <a:buSzPts val="1875"/>
              <a:buFont typeface="Inter"/>
              <a:buChar char="•"/>
            </a:pPr>
            <a:r>
              <a:rPr b="0" i="0" lang="en-US" sz="1875" u="none" cap="none" strike="noStrike">
                <a:solidFill>
                  <a:srgbClr val="D1C4C9"/>
                </a:solidFill>
                <a:latin typeface="Inter"/>
                <a:ea typeface="Inter"/>
                <a:cs typeface="Inter"/>
                <a:sym typeface="Inter"/>
              </a:rPr>
              <a:t>Basic filtering</a:t>
            </a:r>
            <a:endParaRPr b="0" i="0" sz="1875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342900" lvl="0" marL="342900" marR="0" rtl="0" algn="l">
              <a:lnSpc>
                <a:spcPct val="175000"/>
              </a:lnSpc>
              <a:spcBef>
                <a:spcPts val="0"/>
              </a:spcBef>
              <a:spcAft>
                <a:spcPts val="0"/>
              </a:spcAft>
              <a:buClr>
                <a:srgbClr val="D1C4C9"/>
              </a:buClr>
              <a:buSzPts val="1875"/>
              <a:buFont typeface="Inter"/>
              <a:buChar char="•"/>
            </a:pPr>
            <a:r>
              <a:rPr b="0" i="0" lang="en-US" sz="1875" u="none" cap="none" strike="noStrike">
                <a:solidFill>
                  <a:srgbClr val="D1C4C9"/>
                </a:solidFill>
                <a:latin typeface="Inter"/>
                <a:ea typeface="Inter"/>
                <a:cs typeface="Inter"/>
                <a:sym typeface="Inter"/>
              </a:rPr>
              <a:t>Limited semantic understanding</a:t>
            </a:r>
            <a:endParaRPr b="0" i="0" sz="1875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342900" lvl="0" marL="342900" marR="0" rtl="0" algn="l">
              <a:lnSpc>
                <a:spcPct val="175000"/>
              </a:lnSpc>
              <a:spcBef>
                <a:spcPts val="0"/>
              </a:spcBef>
              <a:spcAft>
                <a:spcPts val="0"/>
              </a:spcAft>
              <a:buClr>
                <a:srgbClr val="D1C4C9"/>
              </a:buClr>
              <a:buSzPts val="1875"/>
              <a:buFont typeface="Inter"/>
              <a:buChar char="•"/>
            </a:pPr>
            <a:r>
              <a:rPr b="0" i="0" lang="en-US" sz="1875" u="none" cap="none" strike="noStrike">
                <a:solidFill>
                  <a:srgbClr val="D1C4C9"/>
                </a:solidFill>
                <a:latin typeface="Inter"/>
                <a:ea typeface="Inter"/>
                <a:cs typeface="Inter"/>
                <a:sym typeface="Inter"/>
              </a:rPr>
              <a:t>Ranking-focused</a:t>
            </a:r>
            <a:endParaRPr b="0" i="0" sz="1875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342900" lvl="0" marL="342900" marR="0" rtl="0" algn="l">
              <a:lnSpc>
                <a:spcPct val="175000"/>
              </a:lnSpc>
              <a:spcBef>
                <a:spcPts val="0"/>
              </a:spcBef>
              <a:spcAft>
                <a:spcPts val="0"/>
              </a:spcAft>
              <a:buClr>
                <a:srgbClr val="D1C4C9"/>
              </a:buClr>
              <a:buSzPts val="1875"/>
              <a:buFont typeface="Inter"/>
              <a:buChar char="•"/>
            </a:pPr>
            <a:r>
              <a:rPr b="0" i="0" lang="en-US" sz="1875" u="none" cap="none" strike="noStrike">
                <a:solidFill>
                  <a:srgbClr val="D1C4C9"/>
                </a:solidFill>
                <a:latin typeface="Inter"/>
                <a:ea typeface="Inter"/>
                <a:cs typeface="Inter"/>
                <a:sym typeface="Inter"/>
              </a:rPr>
              <a:t>Little / no feedback</a:t>
            </a:r>
            <a:endParaRPr b="0" i="0" sz="1875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342900" lvl="0" marL="342900" marR="0" rtl="0" algn="l">
              <a:lnSpc>
                <a:spcPct val="175000"/>
              </a:lnSpc>
              <a:spcBef>
                <a:spcPts val="0"/>
              </a:spcBef>
              <a:spcAft>
                <a:spcPts val="0"/>
              </a:spcAft>
              <a:buClr>
                <a:srgbClr val="D1C4C9"/>
              </a:buClr>
              <a:buSzPts val="1875"/>
              <a:buFont typeface="Inter"/>
              <a:buChar char="•"/>
            </a:pPr>
            <a:r>
              <a:rPr b="0" i="0" lang="en-US" sz="1875" u="none" cap="none" strike="noStrike">
                <a:solidFill>
                  <a:srgbClr val="D1C4C9"/>
                </a:solidFill>
                <a:latin typeface="Inter"/>
                <a:ea typeface="Inter"/>
                <a:cs typeface="Inter"/>
                <a:sym typeface="Inter"/>
              </a:rPr>
              <a:t>No upskilling</a:t>
            </a:r>
            <a:endParaRPr b="0" i="0" sz="1875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descr="preencoded.png" id="90" name="Google Shape;90;p3"/>
          <p:cNvPicPr preferRelativeResize="0"/>
          <p:nvPr/>
        </p:nvPicPr>
        <p:blipFill rotWithShape="1">
          <a:blip r:embed="rId6">
            <a:alphaModFix/>
          </a:blip>
          <a:srcRect b="0" l="0" r="0" t="0"/>
          <a:stretch/>
        </p:blipFill>
        <p:spPr>
          <a:xfrm>
            <a:off x="9429750" y="2190750"/>
            <a:ext cx="7905750" cy="4476750"/>
          </a:xfrm>
          <a:prstGeom prst="rect">
            <a:avLst/>
          </a:prstGeom>
          <a:noFill/>
          <a:ln>
            <a:noFill/>
          </a:ln>
        </p:spPr>
      </p:pic>
      <p:sp>
        <p:nvSpPr>
          <p:cNvPr id="91" name="Google Shape;91;p3"/>
          <p:cNvSpPr/>
          <p:nvPr/>
        </p:nvSpPr>
        <p:spPr>
          <a:xfrm>
            <a:off x="9810750" y="2476500"/>
            <a:ext cx="72390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22D3EE"/>
              </a:buClr>
              <a:buSzPts val="2400"/>
              <a:buFont typeface="Poppins"/>
              <a:buNone/>
            </a:pPr>
            <a:r>
              <a:rPr b="1" i="0" lang="en-US" sz="2400" u="none" cap="none" strike="noStrike">
                <a:solidFill>
                  <a:srgbClr val="22D3EE"/>
                </a:solidFill>
                <a:latin typeface="Poppins"/>
                <a:ea typeface="Poppins"/>
                <a:cs typeface="Poppins"/>
                <a:sym typeface="Poppins"/>
              </a:rPr>
              <a:t>Proposed System</a:t>
            </a:r>
            <a:endParaRPr b="0" i="0" sz="2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92" name="Google Shape;92;p3"/>
          <p:cNvSpPr/>
          <p:nvPr/>
        </p:nvSpPr>
        <p:spPr>
          <a:xfrm>
            <a:off x="9810750" y="3143250"/>
            <a:ext cx="7239000" cy="250507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-342900" lvl="0" marL="342900" marR="0" rtl="0" algn="l">
              <a:lnSpc>
                <a:spcPct val="175000"/>
              </a:lnSpc>
              <a:spcBef>
                <a:spcPts val="0"/>
              </a:spcBef>
              <a:spcAft>
                <a:spcPts val="0"/>
              </a:spcAft>
              <a:buClr>
                <a:srgbClr val="D7F0F5"/>
              </a:buClr>
              <a:buSzPts val="1875"/>
              <a:buFont typeface="Inter"/>
              <a:buChar char="•"/>
            </a:pPr>
            <a:r>
              <a:rPr b="0" i="0" lang="en-US" sz="1875" u="none" cap="none" strike="noStrike">
                <a:solidFill>
                  <a:srgbClr val="D7F0F5"/>
                </a:solidFill>
                <a:latin typeface="Inter"/>
                <a:ea typeface="Inter"/>
                <a:cs typeface="Inter"/>
                <a:sym typeface="Inter"/>
              </a:rPr>
              <a:t>NLP + NER extraction</a:t>
            </a:r>
            <a:endParaRPr b="0" i="0" sz="1875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342900" lvl="0" marL="342900" marR="0" rtl="0" algn="l">
              <a:lnSpc>
                <a:spcPct val="175000"/>
              </a:lnSpc>
              <a:spcBef>
                <a:spcPts val="0"/>
              </a:spcBef>
              <a:spcAft>
                <a:spcPts val="0"/>
              </a:spcAft>
              <a:buClr>
                <a:srgbClr val="D7F0F5"/>
              </a:buClr>
              <a:buSzPts val="1875"/>
              <a:buFont typeface="Inter"/>
              <a:buChar char="•"/>
            </a:pPr>
            <a:r>
              <a:rPr b="0" i="0" lang="en-US" sz="1875" u="none" cap="none" strike="noStrike">
                <a:solidFill>
                  <a:srgbClr val="D7F0F5"/>
                </a:solidFill>
                <a:latin typeface="Inter"/>
                <a:ea typeface="Inter"/>
                <a:cs typeface="Inter"/>
                <a:sym typeface="Inter"/>
              </a:rPr>
              <a:t>Semantic embeddings + cosine similarity</a:t>
            </a:r>
            <a:endParaRPr b="0" i="0" sz="1875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342900" lvl="0" marL="342900" marR="0" rtl="0" algn="l">
              <a:lnSpc>
                <a:spcPct val="175000"/>
              </a:lnSpc>
              <a:spcBef>
                <a:spcPts val="0"/>
              </a:spcBef>
              <a:spcAft>
                <a:spcPts val="0"/>
              </a:spcAft>
              <a:buClr>
                <a:srgbClr val="D7F0F5"/>
              </a:buClr>
              <a:buSzPts val="1875"/>
              <a:buFont typeface="Inter"/>
              <a:buChar char="•"/>
            </a:pPr>
            <a:r>
              <a:rPr b="0" i="0" lang="en-US" sz="1875" u="none" cap="none" strike="noStrike">
                <a:solidFill>
                  <a:srgbClr val="D7F0F5"/>
                </a:solidFill>
                <a:latin typeface="Inter"/>
                <a:ea typeface="Inter"/>
                <a:cs typeface="Inter"/>
                <a:sym typeface="Inter"/>
              </a:rPr>
              <a:t>Graph Neural Networks (RGCN)</a:t>
            </a:r>
            <a:endParaRPr b="0" i="0" sz="1875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342900" lvl="0" marL="342900" marR="0" rtl="0" algn="l">
              <a:lnSpc>
                <a:spcPct val="175000"/>
              </a:lnSpc>
              <a:spcBef>
                <a:spcPts val="0"/>
              </a:spcBef>
              <a:spcAft>
                <a:spcPts val="0"/>
              </a:spcAft>
              <a:buClr>
                <a:srgbClr val="D7F0F5"/>
              </a:buClr>
              <a:buSzPts val="1875"/>
              <a:buFont typeface="Inter"/>
              <a:buChar char="•"/>
            </a:pPr>
            <a:r>
              <a:rPr b="0" i="0" lang="en-US" sz="1875" u="none" cap="none" strike="noStrike">
                <a:solidFill>
                  <a:srgbClr val="D7F0F5"/>
                </a:solidFill>
                <a:latin typeface="Inter"/>
                <a:ea typeface="Inter"/>
                <a:cs typeface="Inter"/>
                <a:sym typeface="Inter"/>
              </a:rPr>
              <a:t>Skill-gap intelligence</a:t>
            </a:r>
            <a:endParaRPr b="0" i="0" sz="1875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342900" lvl="0" marL="342900" marR="0" rtl="0" algn="l">
              <a:lnSpc>
                <a:spcPct val="175000"/>
              </a:lnSpc>
              <a:spcBef>
                <a:spcPts val="0"/>
              </a:spcBef>
              <a:spcAft>
                <a:spcPts val="0"/>
              </a:spcAft>
              <a:buClr>
                <a:srgbClr val="D7F0F5"/>
              </a:buClr>
              <a:buSzPts val="1875"/>
              <a:buFont typeface="Inter"/>
              <a:buChar char="•"/>
            </a:pPr>
            <a:r>
              <a:rPr b="0" i="0" lang="en-US" sz="1875" u="none" cap="none" strike="noStrike">
                <a:solidFill>
                  <a:srgbClr val="D7F0F5"/>
                </a:solidFill>
                <a:latin typeface="Inter"/>
                <a:ea typeface="Inter"/>
                <a:cs typeface="Inter"/>
                <a:sym typeface="Inter"/>
              </a:rPr>
              <a:t>Personalized recommendations</a:t>
            </a:r>
            <a:endParaRPr b="0" i="0" sz="1875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342900" lvl="0" marL="342900" marR="0" rtl="0" algn="l">
              <a:lnSpc>
                <a:spcPct val="175000"/>
              </a:lnSpc>
              <a:spcBef>
                <a:spcPts val="0"/>
              </a:spcBef>
              <a:spcAft>
                <a:spcPts val="0"/>
              </a:spcAft>
              <a:buClr>
                <a:srgbClr val="D7F0F5"/>
              </a:buClr>
              <a:buSzPts val="1875"/>
              <a:buFont typeface="Inter"/>
              <a:buChar char="•"/>
            </a:pPr>
            <a:r>
              <a:rPr b="0" i="0" lang="en-US" sz="1875" u="none" cap="none" strike="noStrike">
                <a:solidFill>
                  <a:srgbClr val="D7F0F5"/>
                </a:solidFill>
                <a:latin typeface="Inter"/>
                <a:ea typeface="Inter"/>
                <a:cs typeface="Inter"/>
                <a:sym typeface="Inter"/>
              </a:rPr>
              <a:t>Continuous career improvement</a:t>
            </a:r>
            <a:endParaRPr b="0" i="0" sz="1875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descr="preencoded.png" id="93" name="Google Shape;93;p3"/>
          <p:cNvPicPr preferRelativeResize="0"/>
          <p:nvPr/>
        </p:nvPicPr>
        <p:blipFill rotWithShape="1">
          <a:blip r:embed="rId7">
            <a:alphaModFix/>
          </a:blip>
          <a:srcRect b="0" l="0" r="0" t="0"/>
          <a:stretch/>
        </p:blipFill>
        <p:spPr>
          <a:xfrm>
            <a:off x="952500" y="7048500"/>
            <a:ext cx="16383000" cy="857250"/>
          </a:xfrm>
          <a:prstGeom prst="rect">
            <a:avLst/>
          </a:prstGeom>
          <a:noFill/>
          <a:ln>
            <a:noFill/>
          </a:ln>
        </p:spPr>
      </p:pic>
      <p:sp>
        <p:nvSpPr>
          <p:cNvPr id="94" name="Google Shape;94;p3"/>
          <p:cNvSpPr/>
          <p:nvPr/>
        </p:nvSpPr>
        <p:spPr>
          <a:xfrm>
            <a:off x="1333500" y="7315200"/>
            <a:ext cx="15621000" cy="381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8B5CF6"/>
              </a:buClr>
              <a:buSzPts val="1950"/>
              <a:buFont typeface="Inter"/>
              <a:buNone/>
            </a:pPr>
            <a:r>
              <a:rPr b="1" i="0" lang="en-US" sz="1950" u="none" cap="none" strike="noStrike">
                <a:solidFill>
                  <a:srgbClr val="8B5CF6"/>
                </a:solidFill>
                <a:latin typeface="Inter"/>
                <a:ea typeface="Inter"/>
                <a:cs typeface="Inter"/>
                <a:sym typeface="Inter"/>
              </a:rPr>
              <a:t>TECHNICAL USP:  NLP + Semantic AI + Knowledge Graph + RGCN + Skill-Gap Analysis</a:t>
            </a:r>
            <a:endParaRPr b="0" i="0" sz="19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95" name="Google Shape;95;p3"/>
          <p:cNvSpPr/>
          <p:nvPr/>
        </p:nvSpPr>
        <p:spPr>
          <a:xfrm>
            <a:off x="952500" y="8382000"/>
            <a:ext cx="16383000" cy="5429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34D399"/>
              </a:buClr>
              <a:buSzPts val="2850"/>
              <a:buFont typeface="Poppins"/>
              <a:buNone/>
            </a:pPr>
            <a:r>
              <a:rPr b="1" i="0" lang="en-US" sz="2850" u="none" cap="none" strike="noStrike">
                <a:solidFill>
                  <a:srgbClr val="34D399"/>
                </a:solidFill>
                <a:latin typeface="Poppins"/>
                <a:ea typeface="Poppins"/>
                <a:cs typeface="Poppins"/>
                <a:sym typeface="Poppins"/>
              </a:rPr>
              <a:t>UNDERSTAND  →  MATCH  →  EXPLAIN  →  UPSKILL</a:t>
            </a:r>
            <a:endParaRPr b="0" i="0" sz="28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blipFill>
          <a:blip r:embed="rId3">
            <a:alphaModFix/>
          </a:blip>
          <a:stretch>
            <a:fillRect/>
          </a:stretch>
        </a:blipFill>
      </p:bgPr>
    </p:bg>
    <p:spTree>
      <p:nvGrpSpPr>
        <p:cNvPr id="100" name="Shape 10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preencoded.png" id="101" name="Google Shape;101;p4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952500" y="685800"/>
            <a:ext cx="571500" cy="57150"/>
          </a:xfrm>
          <a:prstGeom prst="rect">
            <a:avLst/>
          </a:prstGeom>
          <a:noFill/>
          <a:ln>
            <a:noFill/>
          </a:ln>
        </p:spPr>
      </p:pic>
      <p:sp>
        <p:nvSpPr>
          <p:cNvPr id="102" name="Google Shape;102;p4"/>
          <p:cNvSpPr/>
          <p:nvPr/>
        </p:nvSpPr>
        <p:spPr>
          <a:xfrm>
            <a:off x="1714500" y="590550"/>
            <a:ext cx="5715000" cy="342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22D3EE"/>
              </a:buClr>
              <a:buSzPts val="1800"/>
              <a:buFont typeface="Inter"/>
              <a:buNone/>
            </a:pPr>
            <a:r>
              <a:rPr b="1" i="0" lang="en-US" sz="1800" u="none" cap="none" strike="noStrike">
                <a:solidFill>
                  <a:srgbClr val="22D3EE"/>
                </a:solidFill>
                <a:latin typeface="Inter"/>
                <a:ea typeface="Inter"/>
                <a:cs typeface="Inter"/>
                <a:sym typeface="Inter"/>
              </a:rPr>
              <a:t>ARCHITECTURE · 04</a:t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03" name="Google Shape;103;p4"/>
          <p:cNvSpPr/>
          <p:nvPr/>
        </p:nvSpPr>
        <p:spPr>
          <a:xfrm>
            <a:off x="952500" y="1047750"/>
            <a:ext cx="14287500" cy="71437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3750"/>
              <a:buFont typeface="Poppins"/>
              <a:buNone/>
            </a:pPr>
            <a:r>
              <a:rPr b="1" i="0" lang="en-US" sz="3750" u="none" cap="none" strike="noStrike">
                <a:solidFill>
                  <a:srgbClr val="FFFFFF"/>
                </a:solidFill>
                <a:latin typeface="Poppins"/>
                <a:ea typeface="Poppins"/>
                <a:cs typeface="Poppins"/>
                <a:sym typeface="Poppins"/>
              </a:rPr>
              <a:t>AI-Powered Technical Architecture</a:t>
            </a:r>
            <a:endParaRPr b="0" i="0" sz="37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descr="preencoded.png" id="104" name="Google Shape;104;p4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368103" y="2286810"/>
            <a:ext cx="2571750" cy="3439116"/>
          </a:xfrm>
          <a:prstGeom prst="rect">
            <a:avLst/>
          </a:prstGeom>
          <a:noFill/>
          <a:ln>
            <a:noFill/>
          </a:ln>
        </p:spPr>
      </p:pic>
      <p:sp>
        <p:nvSpPr>
          <p:cNvPr id="105" name="Google Shape;105;p4"/>
          <p:cNvSpPr/>
          <p:nvPr/>
        </p:nvSpPr>
        <p:spPr>
          <a:xfrm>
            <a:off x="553678" y="2386115"/>
            <a:ext cx="2190900" cy="285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22D3EE"/>
              </a:buClr>
              <a:buSzPts val="1500"/>
              <a:buFont typeface="Inter"/>
              <a:buNone/>
            </a:pPr>
            <a:r>
              <a:rPr b="1" i="0" lang="en-US" sz="1900" u="none" cap="none" strike="noStrike">
                <a:solidFill>
                  <a:srgbClr val="22D3EE"/>
                </a:solidFill>
                <a:latin typeface="Inter"/>
                <a:ea typeface="Inter"/>
                <a:cs typeface="Inter"/>
                <a:sym typeface="Inter"/>
              </a:rPr>
              <a:t>INPUT</a:t>
            </a:r>
            <a:endParaRPr b="0" i="0" sz="19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06" name="Google Shape;106;p4"/>
          <p:cNvSpPr/>
          <p:nvPr/>
        </p:nvSpPr>
        <p:spPr>
          <a:xfrm>
            <a:off x="558336" y="3049715"/>
            <a:ext cx="2190750" cy="21050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E2E8F0"/>
              </a:buClr>
              <a:buSzPts val="1575"/>
              <a:buFont typeface="Inter"/>
              <a:buNone/>
            </a:pPr>
            <a:r>
              <a:rPr b="0" i="0" lang="en-US" sz="1575" u="none" cap="none" strike="noStrike">
                <a:solidFill>
                  <a:srgbClr val="E2E8F0"/>
                </a:solidFill>
                <a:latin typeface="Inter"/>
                <a:ea typeface="Inter"/>
                <a:cs typeface="Inter"/>
                <a:sym typeface="Inter"/>
              </a:rPr>
              <a:t>Candidate Resume</a:t>
            </a:r>
            <a:endParaRPr b="0" i="0" sz="1575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E2E8F0"/>
              </a:buClr>
              <a:buSzPts val="1575"/>
              <a:buFont typeface="Inter"/>
              <a:buNone/>
            </a:pPr>
            <a:r>
              <a:rPr b="0" i="0" lang="en-US" sz="1575" u="none" cap="none" strike="noStrike">
                <a:solidFill>
                  <a:srgbClr val="E2E8F0"/>
                </a:solidFill>
                <a:latin typeface="Inter"/>
                <a:ea typeface="Inter"/>
                <a:cs typeface="Inter"/>
                <a:sym typeface="Inter"/>
              </a:rPr>
              <a:t>Job Description</a:t>
            </a:r>
            <a:endParaRPr b="0" i="0" sz="1575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E2E8F0"/>
              </a:buClr>
              <a:buSzPts val="1575"/>
              <a:buFont typeface="Inter"/>
              <a:buNone/>
            </a:pPr>
            <a:r>
              <a:rPr b="0" i="0" lang="en-US" sz="1575" u="none" cap="none" strike="noStrike">
                <a:solidFill>
                  <a:srgbClr val="E2E8F0"/>
                </a:solidFill>
                <a:latin typeface="Inter"/>
                <a:ea typeface="Inter"/>
                <a:cs typeface="Inter"/>
                <a:sym typeface="Inter"/>
              </a:rPr>
              <a:t>Document Processing:</a:t>
            </a:r>
            <a:endParaRPr b="0" i="0" sz="1575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342900" lvl="0" marL="34290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E2E8F0"/>
              </a:buClr>
              <a:buSzPts val="1575"/>
              <a:buFont typeface="Inter"/>
              <a:buChar char="•"/>
            </a:pPr>
            <a:r>
              <a:rPr b="0" i="0" lang="en-US" sz="1575" u="none" cap="none" strike="noStrike">
                <a:solidFill>
                  <a:srgbClr val="E2E8F0"/>
                </a:solidFill>
                <a:latin typeface="Inter"/>
                <a:ea typeface="Inter"/>
                <a:cs typeface="Inter"/>
                <a:sym typeface="Inter"/>
              </a:rPr>
              <a:t>Text Extraction</a:t>
            </a:r>
            <a:endParaRPr b="0" i="0" sz="1575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342900" lvl="0" marL="34290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E2E8F0"/>
              </a:buClr>
              <a:buSzPts val="1575"/>
              <a:buFont typeface="Inter"/>
              <a:buChar char="•"/>
            </a:pPr>
            <a:r>
              <a:rPr b="0" i="0" lang="en-US" sz="1575" u="none" cap="none" strike="noStrike">
                <a:solidFill>
                  <a:srgbClr val="E2E8F0"/>
                </a:solidFill>
                <a:latin typeface="Inter"/>
                <a:ea typeface="Inter"/>
                <a:cs typeface="Inter"/>
                <a:sym typeface="Inter"/>
              </a:rPr>
              <a:t>Normalization</a:t>
            </a:r>
            <a:endParaRPr b="0" i="0" sz="1575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342900" lvl="0" marL="34290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E2E8F0"/>
              </a:buClr>
              <a:buSzPts val="1575"/>
              <a:buFont typeface="Inter"/>
              <a:buChar char="•"/>
            </a:pPr>
            <a:r>
              <a:rPr b="0" i="0" lang="en-US" sz="1575" u="none" cap="none" strike="noStrike">
                <a:solidFill>
                  <a:srgbClr val="E2E8F0"/>
                </a:solidFill>
                <a:latin typeface="Inter"/>
                <a:ea typeface="Inter"/>
                <a:cs typeface="Inter"/>
                <a:sym typeface="Inter"/>
              </a:rPr>
              <a:t>Tokenization</a:t>
            </a:r>
            <a:endParaRPr b="0" i="0" sz="1575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342900" lvl="0" marL="34290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E2E8F0"/>
              </a:buClr>
              <a:buSzPts val="1575"/>
              <a:buFont typeface="Inter"/>
              <a:buChar char="•"/>
            </a:pPr>
            <a:r>
              <a:rPr b="0" i="0" lang="en-US" sz="1575" u="none" cap="none" strike="noStrike">
                <a:solidFill>
                  <a:srgbClr val="E2E8F0"/>
                </a:solidFill>
                <a:latin typeface="Inter"/>
                <a:ea typeface="Inter"/>
                <a:cs typeface="Inter"/>
                <a:sym typeface="Inter"/>
              </a:rPr>
              <a:t>Lemmatization</a:t>
            </a:r>
            <a:endParaRPr b="0" i="0" sz="1575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descr="preencoded.png" id="107" name="Google Shape;107;p4"/>
          <p:cNvPicPr preferRelativeResize="0"/>
          <p:nvPr/>
        </p:nvPicPr>
        <p:blipFill rotWithShape="1">
          <a:blip r:embed="rId6">
            <a:alphaModFix/>
          </a:blip>
          <a:srcRect b="0" l="0" r="0" t="0"/>
          <a:stretch/>
        </p:blipFill>
        <p:spPr>
          <a:xfrm>
            <a:off x="3615525" y="4104575"/>
            <a:ext cx="2571750" cy="3601375"/>
          </a:xfrm>
          <a:prstGeom prst="rect">
            <a:avLst/>
          </a:prstGeom>
          <a:noFill/>
          <a:ln>
            <a:noFill/>
          </a:ln>
        </p:spPr>
      </p:pic>
      <p:sp>
        <p:nvSpPr>
          <p:cNvPr id="108" name="Google Shape;108;p4"/>
          <p:cNvSpPr/>
          <p:nvPr/>
        </p:nvSpPr>
        <p:spPr>
          <a:xfrm>
            <a:off x="3806019" y="4248693"/>
            <a:ext cx="2190900" cy="285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A78BFA"/>
              </a:buClr>
              <a:buSzPts val="1500"/>
              <a:buFont typeface="Inter"/>
              <a:buNone/>
            </a:pPr>
            <a:r>
              <a:rPr b="1" i="0" lang="en-US" sz="1600" u="none" cap="none" strike="noStrike">
                <a:solidFill>
                  <a:srgbClr val="A78BFA"/>
                </a:solidFill>
                <a:latin typeface="Inter"/>
                <a:ea typeface="Inter"/>
                <a:cs typeface="Inter"/>
                <a:sym typeface="Inter"/>
              </a:rPr>
              <a:t>AI / NLP LAYER</a:t>
            </a:r>
            <a:endParaRPr b="0" i="0" sz="16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09" name="Google Shape;109;p4"/>
          <p:cNvSpPr/>
          <p:nvPr/>
        </p:nvSpPr>
        <p:spPr>
          <a:xfrm>
            <a:off x="3806019" y="5029743"/>
            <a:ext cx="2190750" cy="21050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E2E8F0"/>
              </a:buClr>
              <a:buSzPts val="1575"/>
              <a:buFont typeface="Inter"/>
              <a:buNone/>
            </a:pPr>
            <a:r>
              <a:rPr b="0" i="0" lang="en-US" sz="1575" u="none" cap="none" strike="noStrike">
                <a:solidFill>
                  <a:srgbClr val="E2E8F0"/>
                </a:solidFill>
                <a:latin typeface="Inter"/>
                <a:ea typeface="Inter"/>
                <a:cs typeface="Inter"/>
                <a:sym typeface="Inter"/>
              </a:rPr>
              <a:t>RoBERTa-based NER:</a:t>
            </a:r>
            <a:endParaRPr b="0" i="0" sz="1575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E2E8F0"/>
              </a:buClr>
              <a:buSzPts val="1575"/>
              <a:buFont typeface="Inter"/>
              <a:buNone/>
            </a:pPr>
            <a:r>
              <a:rPr b="0" i="0" lang="en-US" sz="1575" u="none" cap="none" strike="noStrike">
                <a:solidFill>
                  <a:srgbClr val="E2E8F0"/>
                </a:solidFill>
                <a:latin typeface="Inter"/>
                <a:ea typeface="Inter"/>
                <a:cs typeface="Inter"/>
                <a:sym typeface="Inter"/>
              </a:rPr>
              <a:t>skills, job titles, education, experience, certifications, organizations</a:t>
            </a:r>
            <a:endParaRPr b="0" i="0" sz="1575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E2E8F0"/>
              </a:buClr>
              <a:buSzPts val="1575"/>
              <a:buFont typeface="Inter"/>
              <a:buNone/>
            </a:pPr>
            <a:r>
              <a:rPr b="0" i="0" lang="en-US" sz="1575" u="none" cap="none" strike="noStrike">
                <a:solidFill>
                  <a:srgbClr val="E2E8F0"/>
                </a:solidFill>
                <a:latin typeface="Inter"/>
                <a:ea typeface="Inter"/>
                <a:cs typeface="Inter"/>
                <a:sym typeface="Inter"/>
              </a:rPr>
              <a:t>FlashText skill expansion</a:t>
            </a:r>
            <a:endParaRPr b="0" i="0" sz="1575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descr="preencoded.png" id="110" name="Google Shape;110;p4"/>
          <p:cNvPicPr preferRelativeResize="0"/>
          <p:nvPr/>
        </p:nvPicPr>
        <p:blipFill rotWithShape="1">
          <a:blip r:embed="rId7">
            <a:alphaModFix/>
          </a:blip>
          <a:srcRect b="0" l="0" r="0" t="0"/>
          <a:stretch/>
        </p:blipFill>
        <p:spPr>
          <a:xfrm>
            <a:off x="6703790" y="2000955"/>
            <a:ext cx="2571750" cy="3438211"/>
          </a:xfrm>
          <a:prstGeom prst="rect">
            <a:avLst/>
          </a:prstGeom>
          <a:noFill/>
          <a:ln>
            <a:noFill/>
          </a:ln>
        </p:spPr>
      </p:pic>
      <p:sp>
        <p:nvSpPr>
          <p:cNvPr id="111" name="Google Shape;111;p4"/>
          <p:cNvSpPr/>
          <p:nvPr/>
        </p:nvSpPr>
        <p:spPr>
          <a:xfrm>
            <a:off x="6858000" y="2286000"/>
            <a:ext cx="2190750" cy="28575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22D3EE"/>
              </a:buClr>
              <a:buSzPts val="1500"/>
              <a:buFont typeface="Inter"/>
              <a:buNone/>
            </a:pPr>
            <a:r>
              <a:rPr b="1" i="0" lang="en-US" sz="1500" u="none" cap="none" strike="noStrike">
                <a:solidFill>
                  <a:srgbClr val="22D3EE"/>
                </a:solidFill>
                <a:latin typeface="Inter"/>
                <a:ea typeface="Inter"/>
                <a:cs typeface="Inter"/>
                <a:sym typeface="Inter"/>
              </a:rPr>
              <a:t>SEMANTIC</a:t>
            </a:r>
            <a:endParaRPr b="0" i="0" sz="15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12" name="Google Shape;112;p4"/>
          <p:cNvSpPr/>
          <p:nvPr/>
        </p:nvSpPr>
        <p:spPr>
          <a:xfrm>
            <a:off x="6858950" y="2761997"/>
            <a:ext cx="2190900" cy="2194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E2E8F0"/>
              </a:buClr>
              <a:buSzPts val="1575"/>
              <a:buFont typeface="Inter"/>
              <a:buNone/>
            </a:pPr>
            <a:r>
              <a:rPr b="0" i="0" lang="en-US" sz="1575" u="none" cap="none" strike="noStrike">
                <a:solidFill>
                  <a:srgbClr val="E2E8F0"/>
                </a:solidFill>
                <a:latin typeface="Inter"/>
                <a:ea typeface="Inter"/>
                <a:cs typeface="Inter"/>
                <a:sym typeface="Inter"/>
              </a:rPr>
              <a:t>Sentence-BERT / OpenAI embeddings</a:t>
            </a:r>
            <a:endParaRPr b="0" i="0" sz="1575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E2E8F0"/>
              </a:buClr>
              <a:buSzPts val="1575"/>
              <a:buFont typeface="Inter"/>
              <a:buNone/>
            </a:pPr>
            <a:r>
              <a:rPr b="0" i="0" lang="en-US" sz="1575" u="none" cap="none" strike="noStrike">
                <a:solidFill>
                  <a:srgbClr val="E2E8F0"/>
                </a:solidFill>
                <a:latin typeface="Inter"/>
                <a:ea typeface="Inter"/>
                <a:cs typeface="Inter"/>
                <a:sym typeface="Inter"/>
              </a:rPr>
              <a:t>Cosine similarity between candidate profile and job requirements</a:t>
            </a:r>
            <a:endParaRPr b="0" i="0" sz="1575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descr="preencoded.png" id="113" name="Google Shape;113;p4"/>
          <p:cNvPicPr preferRelativeResize="0"/>
          <p:nvPr/>
        </p:nvPicPr>
        <p:blipFill rotWithShape="1">
          <a:blip r:embed="rId6">
            <a:alphaModFix/>
          </a:blip>
          <a:srcRect b="0" l="0" r="0" t="0"/>
          <a:stretch/>
        </p:blipFill>
        <p:spPr>
          <a:xfrm>
            <a:off x="9612821" y="4267029"/>
            <a:ext cx="2571750" cy="3438211"/>
          </a:xfrm>
          <a:prstGeom prst="rect">
            <a:avLst/>
          </a:prstGeom>
          <a:noFill/>
          <a:ln>
            <a:noFill/>
          </a:ln>
        </p:spPr>
      </p:pic>
      <p:sp>
        <p:nvSpPr>
          <p:cNvPr id="114" name="Google Shape;114;p4"/>
          <p:cNvSpPr/>
          <p:nvPr/>
        </p:nvSpPr>
        <p:spPr>
          <a:xfrm>
            <a:off x="9802844" y="4400379"/>
            <a:ext cx="2190900" cy="285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A78BFA"/>
              </a:buClr>
              <a:buSzPts val="1500"/>
              <a:buFont typeface="Inter"/>
              <a:buNone/>
            </a:pPr>
            <a:r>
              <a:rPr b="1" i="0" lang="en-US" sz="1700" u="none" cap="none" strike="noStrike">
                <a:solidFill>
                  <a:srgbClr val="A78BFA"/>
                </a:solidFill>
                <a:latin typeface="Inter"/>
                <a:ea typeface="Inter"/>
                <a:cs typeface="Inter"/>
                <a:sym typeface="Inter"/>
              </a:rPr>
              <a:t>GRAPH</a:t>
            </a:r>
            <a:endParaRPr b="0" i="0" sz="17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15" name="Google Shape;115;p4"/>
          <p:cNvSpPr/>
          <p:nvPr/>
        </p:nvSpPr>
        <p:spPr>
          <a:xfrm>
            <a:off x="9802844" y="5029029"/>
            <a:ext cx="2190750" cy="24003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E2E8F0"/>
              </a:buClr>
              <a:buSzPts val="1575"/>
              <a:buFont typeface="Inter"/>
              <a:buNone/>
            </a:pPr>
            <a:r>
              <a:rPr b="0" i="0" lang="en-US" sz="1475" u="none" cap="none" strike="noStrike">
                <a:solidFill>
                  <a:srgbClr val="E2E8F0"/>
                </a:solidFill>
                <a:latin typeface="Inter"/>
                <a:ea typeface="Inter"/>
                <a:cs typeface="Inter"/>
                <a:sym typeface="Inter"/>
              </a:rPr>
              <a:t>Heterogeneous graph: Candidate, Job, Skills, Orgs, Education</a:t>
            </a:r>
            <a:endParaRPr b="0" i="0" sz="1475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E2E8F0"/>
              </a:buClr>
              <a:buSzPts val="1575"/>
              <a:buFont typeface="Inter"/>
              <a:buNone/>
            </a:pPr>
            <a:r>
              <a:rPr b="0" i="0" lang="en-US" sz="1475" u="none" cap="none" strike="noStrike">
                <a:solidFill>
                  <a:srgbClr val="E2E8F0"/>
                </a:solidFill>
                <a:latin typeface="Inter"/>
                <a:ea typeface="Inter"/>
                <a:cs typeface="Inter"/>
                <a:sym typeface="Inter"/>
              </a:rPr>
              <a:t>RGCN — 3 conv layers, 3-hop neighborhood, LeakyReL</a:t>
            </a:r>
            <a:r>
              <a:rPr b="0" i="0" lang="en-US" sz="1575" u="none" cap="none" strike="noStrike">
                <a:solidFill>
                  <a:srgbClr val="E2E8F0"/>
                </a:solidFill>
                <a:latin typeface="Inter"/>
                <a:ea typeface="Inter"/>
                <a:cs typeface="Inter"/>
                <a:sym typeface="Inter"/>
              </a:rPr>
              <a:t>U, dropout 0.3</a:t>
            </a:r>
            <a:endParaRPr b="0" i="0" sz="1575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descr="preencoded.png" id="116" name="Google Shape;116;p4"/>
          <p:cNvPicPr preferRelativeResize="0"/>
          <p:nvPr/>
        </p:nvPicPr>
        <p:blipFill rotWithShape="1">
          <a:blip r:embed="rId7">
            <a:alphaModFix/>
          </a:blip>
          <a:srcRect b="0" l="0" r="0" t="0"/>
          <a:stretch/>
        </p:blipFill>
        <p:spPr>
          <a:xfrm>
            <a:off x="12520898" y="2000955"/>
            <a:ext cx="2571750" cy="3438211"/>
          </a:xfrm>
          <a:prstGeom prst="rect">
            <a:avLst/>
          </a:prstGeom>
          <a:noFill/>
          <a:ln>
            <a:noFill/>
          </a:ln>
        </p:spPr>
      </p:pic>
      <p:sp>
        <p:nvSpPr>
          <p:cNvPr id="117" name="Google Shape;117;p4"/>
          <p:cNvSpPr/>
          <p:nvPr/>
        </p:nvSpPr>
        <p:spPr>
          <a:xfrm>
            <a:off x="12573000" y="2286000"/>
            <a:ext cx="2190750" cy="28575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22D3EE"/>
              </a:buClr>
              <a:buSzPts val="1500"/>
              <a:buFont typeface="Inter"/>
              <a:buNone/>
            </a:pPr>
            <a:r>
              <a:rPr b="1" i="0" lang="en-US" sz="1500" u="none" cap="none" strike="noStrike">
                <a:solidFill>
                  <a:srgbClr val="22D3EE"/>
                </a:solidFill>
                <a:latin typeface="Inter"/>
                <a:ea typeface="Inter"/>
                <a:cs typeface="Inter"/>
                <a:sym typeface="Inter"/>
              </a:rPr>
              <a:t>MATCH ENGINE</a:t>
            </a:r>
            <a:endParaRPr b="0" i="0" sz="15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18" name="Google Shape;118;p4"/>
          <p:cNvSpPr/>
          <p:nvPr/>
        </p:nvSpPr>
        <p:spPr>
          <a:xfrm>
            <a:off x="12573000" y="2762250"/>
            <a:ext cx="2190900" cy="1342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E2E8F0"/>
              </a:buClr>
              <a:buSzPts val="1575"/>
              <a:buFont typeface="Inter"/>
              <a:buNone/>
            </a:pPr>
            <a:r>
              <a:rPr b="0" i="0" lang="en-US" sz="1575" u="none" cap="none" strike="noStrike">
                <a:solidFill>
                  <a:srgbClr val="E2E8F0"/>
                </a:solidFill>
                <a:latin typeface="Inter"/>
                <a:ea typeface="Inter"/>
                <a:cs typeface="Inter"/>
                <a:sym typeface="Inter"/>
              </a:rPr>
              <a:t>ATS Compatibility</a:t>
            </a:r>
            <a:endParaRPr b="0" i="0" sz="1575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E2E8F0"/>
              </a:buClr>
              <a:buSzPts val="1575"/>
              <a:buFont typeface="Inter"/>
              <a:buNone/>
            </a:pPr>
            <a:r>
              <a:rPr b="0" i="0" lang="en-US" sz="1575" u="none" cap="none" strike="noStrike">
                <a:solidFill>
                  <a:srgbClr val="E2E8F0"/>
                </a:solidFill>
                <a:latin typeface="Inter"/>
                <a:ea typeface="Inter"/>
                <a:cs typeface="Inter"/>
                <a:sym typeface="Inter"/>
              </a:rPr>
              <a:t>Skill Match</a:t>
            </a:r>
            <a:endParaRPr b="0" i="0" sz="1575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E2E8F0"/>
              </a:buClr>
              <a:buSzPts val="1575"/>
              <a:buFont typeface="Inter"/>
              <a:buNone/>
            </a:pPr>
            <a:r>
              <a:rPr b="0" i="0" lang="en-US" sz="1575" u="none" cap="none" strike="noStrike">
                <a:solidFill>
                  <a:srgbClr val="E2E8F0"/>
                </a:solidFill>
                <a:latin typeface="Inter"/>
                <a:ea typeface="Inter"/>
                <a:cs typeface="Inter"/>
                <a:sym typeface="Inter"/>
              </a:rPr>
              <a:t>Job Relevance</a:t>
            </a:r>
            <a:endParaRPr b="0" i="0" sz="1575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descr="preencoded.png" id="119" name="Google Shape;119;p4"/>
          <p:cNvPicPr preferRelativeResize="0"/>
          <p:nvPr/>
        </p:nvPicPr>
        <p:blipFill rotWithShape="1">
          <a:blip r:embed="rId8">
            <a:alphaModFix/>
          </a:blip>
          <a:srcRect b="0" l="0" r="0" t="0"/>
          <a:stretch/>
        </p:blipFill>
        <p:spPr>
          <a:xfrm>
            <a:off x="15418594" y="4384262"/>
            <a:ext cx="2496055" cy="3438211"/>
          </a:xfrm>
          <a:prstGeom prst="rect">
            <a:avLst/>
          </a:prstGeom>
          <a:noFill/>
          <a:ln>
            <a:noFill/>
          </a:ln>
        </p:spPr>
      </p:pic>
      <p:sp>
        <p:nvSpPr>
          <p:cNvPr id="120" name="Google Shape;120;p4"/>
          <p:cNvSpPr/>
          <p:nvPr/>
        </p:nvSpPr>
        <p:spPr>
          <a:xfrm>
            <a:off x="15618047" y="4671127"/>
            <a:ext cx="1714500" cy="28575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34D399"/>
              </a:buClr>
              <a:buSzPts val="1500"/>
              <a:buFont typeface="Inter"/>
              <a:buNone/>
            </a:pPr>
            <a:r>
              <a:rPr b="1" i="0" lang="en-US" sz="1500" u="none" cap="none" strike="noStrike">
                <a:solidFill>
                  <a:srgbClr val="34D399"/>
                </a:solidFill>
                <a:latin typeface="Inter"/>
                <a:ea typeface="Inter"/>
                <a:cs typeface="Inter"/>
                <a:sym typeface="Inter"/>
              </a:rPr>
              <a:t>OUTPUT</a:t>
            </a:r>
            <a:endParaRPr b="0" i="0" sz="15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21" name="Google Shape;121;p4"/>
          <p:cNvSpPr/>
          <p:nvPr/>
        </p:nvSpPr>
        <p:spPr>
          <a:xfrm>
            <a:off x="15618047" y="5147377"/>
            <a:ext cx="2096853" cy="150495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E2E8F0"/>
              </a:buClr>
              <a:buSzPts val="1575"/>
              <a:buFont typeface="Inter"/>
              <a:buNone/>
            </a:pPr>
            <a:r>
              <a:rPr b="0" i="0" lang="en-US" sz="1575" u="none" cap="none" strike="noStrike">
                <a:solidFill>
                  <a:srgbClr val="E2E8F0"/>
                </a:solidFill>
                <a:latin typeface="Inter"/>
                <a:ea typeface="Inter"/>
                <a:cs typeface="Inter"/>
                <a:sym typeface="Inter"/>
              </a:rPr>
              <a:t>Match analysis</a:t>
            </a:r>
            <a:endParaRPr b="0" i="0" sz="1575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E2E8F0"/>
              </a:buClr>
              <a:buSzPts val="1575"/>
              <a:buFont typeface="Inter"/>
              <a:buNone/>
            </a:pPr>
            <a:r>
              <a:rPr b="0" i="0" lang="en-US" sz="1575" u="none" cap="none" strike="noStrike">
                <a:solidFill>
                  <a:srgbClr val="E2E8F0"/>
                </a:solidFill>
                <a:latin typeface="Inter"/>
                <a:ea typeface="Inter"/>
                <a:cs typeface="Inter"/>
                <a:sym typeface="Inter"/>
              </a:rPr>
              <a:t>Skill gaps</a:t>
            </a:r>
            <a:endParaRPr b="0" i="0" sz="1575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E2E8F0"/>
              </a:buClr>
              <a:buSzPts val="1575"/>
              <a:buFont typeface="Inter"/>
              <a:buNone/>
            </a:pPr>
            <a:r>
              <a:rPr b="0" i="0" lang="en-US" sz="1575" u="none" cap="none" strike="noStrike">
                <a:solidFill>
                  <a:srgbClr val="E2E8F0"/>
                </a:solidFill>
                <a:latin typeface="Inter"/>
                <a:ea typeface="Inter"/>
                <a:cs typeface="Inter"/>
                <a:sym typeface="Inter"/>
              </a:rPr>
              <a:t>Feedback</a:t>
            </a:r>
            <a:endParaRPr b="0" i="0" sz="1575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E2E8F0"/>
              </a:buClr>
              <a:buSzPts val="1650"/>
              <a:buFont typeface="Inter"/>
              <a:buNone/>
            </a:pPr>
            <a:r>
              <a:rPr b="0" i="0" lang="en-US" sz="1650" u="none" cap="none" strike="noStrike">
                <a:solidFill>
                  <a:srgbClr val="E2E8F0"/>
                </a:solidFill>
                <a:latin typeface="Inter"/>
                <a:ea typeface="Inter"/>
                <a:cs typeface="Inter"/>
                <a:sym typeface="Inter"/>
              </a:rPr>
              <a:t>Courses</a:t>
            </a:r>
            <a:endParaRPr b="0" i="0" sz="1575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E2E8F0"/>
              </a:buClr>
              <a:buSzPts val="1575"/>
              <a:buFont typeface="Inter"/>
              <a:buNone/>
            </a:pPr>
            <a:r>
              <a:rPr b="0" i="0" lang="en-US" sz="1575" u="none" cap="none" strike="noStrike">
                <a:solidFill>
                  <a:srgbClr val="E2E8F0"/>
                </a:solidFill>
                <a:latin typeface="Inter"/>
                <a:ea typeface="Inter"/>
                <a:cs typeface="Inter"/>
                <a:sym typeface="Inter"/>
              </a:rPr>
              <a:t>Career paths</a:t>
            </a:r>
            <a:endParaRPr b="0" i="0" sz="1575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descr="preencoded.png" id="122" name="Google Shape;122;p4"/>
          <p:cNvPicPr preferRelativeResize="0"/>
          <p:nvPr/>
        </p:nvPicPr>
        <p:blipFill rotWithShape="1">
          <a:blip r:embed="rId9">
            <a:alphaModFix/>
          </a:blip>
          <a:srcRect b="0" l="0" r="0" t="0"/>
          <a:stretch/>
        </p:blipFill>
        <p:spPr>
          <a:xfrm>
            <a:off x="952500" y="8114462"/>
            <a:ext cx="16383000" cy="1428750"/>
          </a:xfrm>
          <a:prstGeom prst="rect">
            <a:avLst/>
          </a:prstGeom>
          <a:noFill/>
          <a:ln>
            <a:noFill/>
          </a:ln>
        </p:spPr>
      </p:pic>
      <p:sp>
        <p:nvSpPr>
          <p:cNvPr id="123" name="Google Shape;123;p4"/>
          <p:cNvSpPr/>
          <p:nvPr/>
        </p:nvSpPr>
        <p:spPr>
          <a:xfrm>
            <a:off x="1333500" y="8334375"/>
            <a:ext cx="5715000" cy="32385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22D3EE"/>
              </a:buClr>
              <a:buSzPts val="1650"/>
              <a:buFont typeface="Inter"/>
              <a:buNone/>
            </a:pPr>
            <a:r>
              <a:rPr b="1" i="0" lang="en-US" sz="1650" u="none" cap="none" strike="noStrike">
                <a:solidFill>
                  <a:srgbClr val="22D3EE"/>
                </a:solidFill>
                <a:latin typeface="Inter"/>
                <a:ea typeface="Inter"/>
                <a:cs typeface="Inter"/>
                <a:sym typeface="Inter"/>
              </a:rPr>
              <a:t>TECHNOLOGY STACK</a:t>
            </a:r>
            <a:endParaRPr b="0" i="0" sz="16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24" name="Google Shape;124;p4"/>
          <p:cNvSpPr/>
          <p:nvPr/>
        </p:nvSpPr>
        <p:spPr>
          <a:xfrm>
            <a:off x="1333500" y="8715375"/>
            <a:ext cx="15621000" cy="56197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Clr>
                <a:srgbClr val="CBD5E1"/>
              </a:buClr>
              <a:buSzPts val="1575"/>
              <a:buFont typeface="Inter"/>
              <a:buNone/>
            </a:pPr>
            <a:r>
              <a:rPr b="0" i="0" lang="en-US" sz="1575" u="none" cap="none" strike="noStrike">
                <a:solidFill>
                  <a:srgbClr val="CBD5E1"/>
                </a:solidFill>
                <a:latin typeface="Inter"/>
                <a:ea typeface="Inter"/>
                <a:cs typeface="Inter"/>
                <a:sym typeface="Inter"/>
              </a:rPr>
              <a:t>Frontend: React / Next.js   ·   Backend: Python FastAPI / Flask   ·   AI/ML: RoBERTa, Sentence-BERT, RGCN   ·   DB: PostgreSQL / MongoDB   ·   Vector: pgvector   ·   NLP: spaCy / FlashText / LanguageTool</a:t>
            </a:r>
            <a:endParaRPr b="0" i="0" sz="1575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blipFill>
          <a:blip r:embed="rId3">
            <a:alphaModFix/>
          </a:blip>
          <a:stretch>
            <a:fillRect/>
          </a:stretch>
        </a:blipFill>
      </p:bgPr>
    </p:bg>
    <p:spTree>
      <p:nvGrpSpPr>
        <p:cNvPr id="129" name="Shape 12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preencoded.png" id="130" name="Google Shape;130;p5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952500" y="685800"/>
            <a:ext cx="571500" cy="57150"/>
          </a:xfrm>
          <a:prstGeom prst="rect">
            <a:avLst/>
          </a:prstGeom>
          <a:noFill/>
          <a:ln>
            <a:noFill/>
          </a:ln>
        </p:spPr>
      </p:pic>
      <p:sp>
        <p:nvSpPr>
          <p:cNvPr id="131" name="Google Shape;131;p5"/>
          <p:cNvSpPr/>
          <p:nvPr/>
        </p:nvSpPr>
        <p:spPr>
          <a:xfrm>
            <a:off x="1714500" y="590550"/>
            <a:ext cx="6667500" cy="342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22D3EE"/>
              </a:buClr>
              <a:buSzPts val="1800"/>
              <a:buFont typeface="Inter"/>
              <a:buNone/>
            </a:pPr>
            <a:r>
              <a:rPr b="1" i="0" lang="en-US" sz="1800" u="none" cap="none" strike="noStrike">
                <a:solidFill>
                  <a:srgbClr val="22D3EE"/>
                </a:solidFill>
                <a:latin typeface="Inter"/>
                <a:ea typeface="Inter"/>
                <a:cs typeface="Inter"/>
                <a:sym typeface="Inter"/>
              </a:rPr>
              <a:t>FEASIBILITY &amp; IMPACT · 05</a:t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32" name="Google Shape;132;p5"/>
          <p:cNvSpPr/>
          <p:nvPr/>
        </p:nvSpPr>
        <p:spPr>
          <a:xfrm>
            <a:off x="952500" y="1047750"/>
            <a:ext cx="14287500" cy="74295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3900"/>
              <a:buFont typeface="Poppins"/>
              <a:buNone/>
            </a:pPr>
            <a:r>
              <a:rPr b="1" i="0" lang="en-US" sz="3900" u="none" cap="none" strike="noStrike">
                <a:solidFill>
                  <a:srgbClr val="FFFFFF"/>
                </a:solidFill>
                <a:latin typeface="Poppins"/>
                <a:ea typeface="Poppins"/>
                <a:cs typeface="Poppins"/>
                <a:sym typeface="Poppins"/>
              </a:rPr>
              <a:t>Feasible, Scalable &amp; Impact-Driven</a:t>
            </a:r>
            <a:endParaRPr b="0" i="0" sz="39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descr="preencoded.png" id="133" name="Google Shape;133;p5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952500" y="2190750"/>
            <a:ext cx="5143500" cy="5524500"/>
          </a:xfrm>
          <a:prstGeom prst="rect">
            <a:avLst/>
          </a:prstGeom>
          <a:noFill/>
          <a:ln>
            <a:noFill/>
          </a:ln>
        </p:spPr>
      </p:pic>
      <p:sp>
        <p:nvSpPr>
          <p:cNvPr id="134" name="Google Shape;134;p5"/>
          <p:cNvSpPr/>
          <p:nvPr/>
        </p:nvSpPr>
        <p:spPr>
          <a:xfrm>
            <a:off x="1333500" y="2524125"/>
            <a:ext cx="4476750" cy="419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22D3EE"/>
              </a:buClr>
              <a:buSzPts val="2250"/>
              <a:buFont typeface="Poppins"/>
              <a:buNone/>
            </a:pPr>
            <a:r>
              <a:rPr b="1" i="0" lang="en-US" sz="2250" u="none" cap="none" strike="noStrike">
                <a:solidFill>
                  <a:srgbClr val="22D3EE"/>
                </a:solidFill>
                <a:latin typeface="Poppins"/>
                <a:ea typeface="Poppins"/>
                <a:cs typeface="Poppins"/>
                <a:sym typeface="Poppins"/>
              </a:rPr>
              <a:t>Technical Feasibility</a:t>
            </a:r>
            <a:endParaRPr b="0" i="0" sz="22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35" name="Google Shape;135;p5"/>
          <p:cNvSpPr/>
          <p:nvPr/>
        </p:nvSpPr>
        <p:spPr>
          <a:xfrm>
            <a:off x="1333500" y="3143250"/>
            <a:ext cx="4476750" cy="200025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-342900" lvl="0" marL="342900" marR="0" rtl="0" algn="l">
              <a:lnSpc>
                <a:spcPct val="175000"/>
              </a:lnSpc>
              <a:spcBef>
                <a:spcPts val="0"/>
              </a:spcBef>
              <a:spcAft>
                <a:spcPts val="0"/>
              </a:spcAft>
              <a:buClr>
                <a:srgbClr val="E2E8F0"/>
              </a:buClr>
              <a:buSzPts val="1800"/>
              <a:buFont typeface="Inter"/>
              <a:buChar char="•"/>
            </a:pPr>
            <a:r>
              <a:rPr b="0" i="0" lang="en-US" sz="1800" u="none" cap="none" strike="noStrike">
                <a:solidFill>
                  <a:srgbClr val="E2E8F0"/>
                </a:solidFill>
                <a:latin typeface="Inter"/>
                <a:ea typeface="Inter"/>
                <a:cs typeface="Inter"/>
                <a:sym typeface="Inter"/>
              </a:rPr>
              <a:t>RoBERTa / BERT / Sentence-BERT</a:t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342900" lvl="0" marL="342900" marR="0" rtl="0" algn="l">
              <a:lnSpc>
                <a:spcPct val="175000"/>
              </a:lnSpc>
              <a:spcBef>
                <a:spcPts val="0"/>
              </a:spcBef>
              <a:spcAft>
                <a:spcPts val="0"/>
              </a:spcAft>
              <a:buClr>
                <a:srgbClr val="E2E8F0"/>
              </a:buClr>
              <a:buSzPts val="1800"/>
              <a:buFont typeface="Inter"/>
              <a:buChar char="•"/>
            </a:pPr>
            <a:r>
              <a:rPr b="0" i="0" lang="en-US" sz="1800" u="none" cap="none" strike="noStrike">
                <a:solidFill>
                  <a:srgbClr val="E2E8F0"/>
                </a:solidFill>
                <a:latin typeface="Inter"/>
                <a:ea typeface="Inter"/>
                <a:cs typeface="Inter"/>
                <a:sym typeface="Inter"/>
              </a:rPr>
              <a:t>spaCy, FlashText, LanguageTool</a:t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342900" lvl="0" marL="342900" marR="0" rtl="0" algn="l">
              <a:lnSpc>
                <a:spcPct val="175000"/>
              </a:lnSpc>
              <a:spcBef>
                <a:spcPts val="0"/>
              </a:spcBef>
              <a:spcAft>
                <a:spcPts val="0"/>
              </a:spcAft>
              <a:buClr>
                <a:srgbClr val="E2E8F0"/>
              </a:buClr>
              <a:buSzPts val="1800"/>
              <a:buFont typeface="Inter"/>
              <a:buChar char="•"/>
            </a:pPr>
            <a:r>
              <a:rPr b="0" i="0" lang="en-US" sz="1800" u="none" cap="none" strike="noStrike">
                <a:solidFill>
                  <a:srgbClr val="E2E8F0"/>
                </a:solidFill>
                <a:latin typeface="Inter"/>
                <a:ea typeface="Inter"/>
                <a:cs typeface="Inter"/>
                <a:sym typeface="Inter"/>
              </a:rPr>
              <a:t>RGCN + PyTorch Geometric</a:t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342900" lvl="0" marL="342900" marR="0" rtl="0" algn="l">
              <a:lnSpc>
                <a:spcPct val="175000"/>
              </a:lnSpc>
              <a:spcBef>
                <a:spcPts val="0"/>
              </a:spcBef>
              <a:spcAft>
                <a:spcPts val="0"/>
              </a:spcAft>
              <a:buClr>
                <a:srgbClr val="E2E8F0"/>
              </a:buClr>
              <a:buSzPts val="1800"/>
              <a:buFont typeface="Inter"/>
              <a:buChar char="•"/>
            </a:pPr>
            <a:r>
              <a:rPr b="0" i="0" lang="en-US" sz="1800" u="none" cap="none" strike="noStrike">
                <a:solidFill>
                  <a:srgbClr val="E2E8F0"/>
                </a:solidFill>
                <a:latin typeface="Inter"/>
                <a:ea typeface="Inter"/>
                <a:cs typeface="Inter"/>
                <a:sym typeface="Inter"/>
              </a:rPr>
              <a:t>Cloud-ready: AWS / GCP</a:t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342900" lvl="0" marL="342900" marR="0" rtl="0" algn="l">
              <a:lnSpc>
                <a:spcPct val="175000"/>
              </a:lnSpc>
              <a:spcBef>
                <a:spcPts val="0"/>
              </a:spcBef>
              <a:spcAft>
                <a:spcPts val="0"/>
              </a:spcAft>
              <a:buClr>
                <a:srgbClr val="E2E8F0"/>
              </a:buClr>
              <a:buSzPts val="1800"/>
              <a:buFont typeface="Inter"/>
              <a:buChar char="•"/>
            </a:pPr>
            <a:r>
              <a:rPr b="0" i="0" lang="en-US" sz="1800" u="none" cap="none" strike="noStrike">
                <a:solidFill>
                  <a:srgbClr val="E2E8F0"/>
                </a:solidFill>
                <a:latin typeface="Inter"/>
                <a:ea typeface="Inter"/>
                <a:cs typeface="Inter"/>
                <a:sym typeface="Inter"/>
              </a:rPr>
              <a:t>Built on proven open models</a:t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descr="preencoded.png" id="136" name="Google Shape;136;p5"/>
          <p:cNvPicPr preferRelativeResize="0"/>
          <p:nvPr/>
        </p:nvPicPr>
        <p:blipFill rotWithShape="1">
          <a:blip r:embed="rId6">
            <a:alphaModFix/>
          </a:blip>
          <a:srcRect b="0" l="0" r="0" t="0"/>
          <a:stretch/>
        </p:blipFill>
        <p:spPr>
          <a:xfrm>
            <a:off x="6572250" y="2190750"/>
            <a:ext cx="5143500" cy="5524500"/>
          </a:xfrm>
          <a:prstGeom prst="rect">
            <a:avLst/>
          </a:prstGeom>
          <a:noFill/>
          <a:ln>
            <a:noFill/>
          </a:ln>
        </p:spPr>
      </p:pic>
      <p:sp>
        <p:nvSpPr>
          <p:cNvPr id="137" name="Google Shape;137;p5"/>
          <p:cNvSpPr/>
          <p:nvPr/>
        </p:nvSpPr>
        <p:spPr>
          <a:xfrm>
            <a:off x="6953250" y="2524125"/>
            <a:ext cx="4476750" cy="419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A78BFA"/>
              </a:buClr>
              <a:buSzPts val="2250"/>
              <a:buFont typeface="Poppins"/>
              <a:buNone/>
            </a:pPr>
            <a:r>
              <a:rPr b="1" i="0" lang="en-US" sz="2250" u="none" cap="none" strike="noStrike">
                <a:solidFill>
                  <a:srgbClr val="A78BFA"/>
                </a:solidFill>
                <a:latin typeface="Poppins"/>
                <a:ea typeface="Poppins"/>
                <a:cs typeface="Poppins"/>
                <a:sym typeface="Poppins"/>
              </a:rPr>
              <a:t>Implementation Roadmap</a:t>
            </a:r>
            <a:endParaRPr b="0" i="0" sz="22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38" name="Google Shape;138;p5"/>
          <p:cNvSpPr/>
          <p:nvPr/>
        </p:nvSpPr>
        <p:spPr>
          <a:xfrm>
            <a:off x="6953250" y="3143250"/>
            <a:ext cx="4476750" cy="173355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90000"/>
              </a:lnSpc>
              <a:spcBef>
                <a:spcPts val="0"/>
              </a:spcBef>
              <a:spcAft>
                <a:spcPts val="0"/>
              </a:spcAft>
              <a:buClr>
                <a:srgbClr val="E2E8F0"/>
              </a:buClr>
              <a:buSzPts val="1800"/>
              <a:buFont typeface="Inter"/>
              <a:buNone/>
            </a:pPr>
            <a:r>
              <a:rPr b="0" i="0" lang="en-US" sz="1800" u="none" cap="none" strike="noStrike">
                <a:solidFill>
                  <a:srgbClr val="E2E8F0"/>
                </a:solidFill>
                <a:latin typeface="Inter"/>
                <a:ea typeface="Inter"/>
                <a:cs typeface="Inter"/>
                <a:sym typeface="Inter"/>
              </a:rPr>
              <a:t>1  MVP — core parsing &amp; matching</a:t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lnSpc>
                <a:spcPct val="190000"/>
              </a:lnSpc>
              <a:spcBef>
                <a:spcPts val="0"/>
              </a:spcBef>
              <a:spcAft>
                <a:spcPts val="0"/>
              </a:spcAft>
              <a:buClr>
                <a:srgbClr val="E2E8F0"/>
              </a:buClr>
              <a:buSzPts val="1800"/>
              <a:buFont typeface="Inter"/>
              <a:buNone/>
            </a:pPr>
            <a:r>
              <a:rPr b="0" i="0" lang="en-US" sz="1800" u="none" cap="none" strike="noStrike">
                <a:solidFill>
                  <a:srgbClr val="E2E8F0"/>
                </a:solidFill>
                <a:latin typeface="Inter"/>
                <a:ea typeface="Inter"/>
                <a:cs typeface="Inter"/>
                <a:sym typeface="Inter"/>
              </a:rPr>
              <a:t>2  Semantic + graph intelligence</a:t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lnSpc>
                <a:spcPct val="190000"/>
              </a:lnSpc>
              <a:spcBef>
                <a:spcPts val="0"/>
              </a:spcBef>
              <a:spcAft>
                <a:spcPts val="0"/>
              </a:spcAft>
              <a:buClr>
                <a:srgbClr val="E2E8F0"/>
              </a:buClr>
              <a:buSzPts val="1800"/>
              <a:buFont typeface="Inter"/>
              <a:buNone/>
            </a:pPr>
            <a:r>
              <a:rPr b="0" i="0" lang="en-US" sz="1800" u="none" cap="none" strike="noStrike">
                <a:solidFill>
                  <a:srgbClr val="E2E8F0"/>
                </a:solidFill>
                <a:latin typeface="Inter"/>
                <a:ea typeface="Inter"/>
                <a:cs typeface="Inter"/>
                <a:sym typeface="Inter"/>
              </a:rPr>
              <a:t>3  Feedback &amp; course engine</a:t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lnSpc>
                <a:spcPct val="190000"/>
              </a:lnSpc>
              <a:spcBef>
                <a:spcPts val="0"/>
              </a:spcBef>
              <a:spcAft>
                <a:spcPts val="0"/>
              </a:spcAft>
              <a:buClr>
                <a:srgbClr val="E2E8F0"/>
              </a:buClr>
              <a:buSzPts val="1800"/>
              <a:buFont typeface="Inter"/>
              <a:buNone/>
            </a:pPr>
            <a:r>
              <a:rPr b="0" i="0" lang="en-US" sz="1800" u="none" cap="none" strike="noStrike">
                <a:solidFill>
                  <a:srgbClr val="E2E8F0"/>
                </a:solidFill>
                <a:latin typeface="Inter"/>
                <a:ea typeface="Inter"/>
                <a:cs typeface="Inter"/>
                <a:sym typeface="Inter"/>
              </a:rPr>
              <a:t>4  Cloud deployment &amp; Scale</a:t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descr="preencoded.png" id="139" name="Google Shape;139;p5"/>
          <p:cNvPicPr preferRelativeResize="0"/>
          <p:nvPr/>
        </p:nvPicPr>
        <p:blipFill rotWithShape="1">
          <a:blip r:embed="rId7">
            <a:alphaModFix/>
          </a:blip>
          <a:srcRect b="0" l="0" r="0" t="0"/>
          <a:stretch/>
        </p:blipFill>
        <p:spPr>
          <a:xfrm>
            <a:off x="12192000" y="2190750"/>
            <a:ext cx="5143500" cy="5524500"/>
          </a:xfrm>
          <a:prstGeom prst="rect">
            <a:avLst/>
          </a:prstGeom>
          <a:noFill/>
          <a:ln>
            <a:noFill/>
          </a:ln>
        </p:spPr>
      </p:pic>
      <p:sp>
        <p:nvSpPr>
          <p:cNvPr id="140" name="Google Shape;140;p5"/>
          <p:cNvSpPr/>
          <p:nvPr/>
        </p:nvSpPr>
        <p:spPr>
          <a:xfrm>
            <a:off x="12573000" y="2524125"/>
            <a:ext cx="4476750" cy="419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34D399"/>
              </a:buClr>
              <a:buSzPts val="2250"/>
              <a:buFont typeface="Poppins"/>
              <a:buNone/>
            </a:pPr>
            <a:r>
              <a:rPr b="1" i="0" lang="en-US" sz="2250" u="none" cap="none" strike="noStrike">
                <a:solidFill>
                  <a:srgbClr val="34D399"/>
                </a:solidFill>
                <a:latin typeface="Poppins"/>
                <a:ea typeface="Poppins"/>
                <a:cs typeface="Poppins"/>
                <a:sym typeface="Poppins"/>
              </a:rPr>
              <a:t>Expected Impact</a:t>
            </a:r>
            <a:endParaRPr b="0" i="0" sz="22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41" name="Google Shape;141;p5"/>
          <p:cNvSpPr/>
          <p:nvPr/>
        </p:nvSpPr>
        <p:spPr>
          <a:xfrm>
            <a:off x="12573000" y="3143250"/>
            <a:ext cx="4476750" cy="1600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-342900" lvl="0" marL="342900" marR="0" rtl="0" algn="l">
              <a:lnSpc>
                <a:spcPct val="175000"/>
              </a:lnSpc>
              <a:spcBef>
                <a:spcPts val="0"/>
              </a:spcBef>
              <a:spcAft>
                <a:spcPts val="0"/>
              </a:spcAft>
              <a:buClr>
                <a:srgbClr val="E2E8F0"/>
              </a:buClr>
              <a:buSzPts val="1800"/>
              <a:buFont typeface="Inter"/>
              <a:buChar char="•"/>
            </a:pPr>
            <a:r>
              <a:rPr b="0" i="0" lang="en-US" sz="1800" u="none" cap="none" strike="noStrike">
                <a:solidFill>
                  <a:srgbClr val="E2E8F0"/>
                </a:solidFill>
                <a:latin typeface="Inter"/>
                <a:ea typeface="Inter"/>
                <a:cs typeface="Inter"/>
                <a:sym typeface="Inter"/>
              </a:rPr>
              <a:t>Candidates: clear, actionable growth</a:t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342900" lvl="0" marL="342900" marR="0" rtl="0" algn="l">
              <a:lnSpc>
                <a:spcPct val="175000"/>
              </a:lnSpc>
              <a:spcBef>
                <a:spcPts val="0"/>
              </a:spcBef>
              <a:spcAft>
                <a:spcPts val="0"/>
              </a:spcAft>
              <a:buClr>
                <a:srgbClr val="E2E8F0"/>
              </a:buClr>
              <a:buSzPts val="1800"/>
              <a:buFont typeface="Inter"/>
              <a:buChar char="•"/>
            </a:pPr>
            <a:r>
              <a:rPr b="0" i="0" lang="en-US" sz="1800" u="none" cap="none" strike="noStrike">
                <a:solidFill>
                  <a:srgbClr val="E2E8F0"/>
                </a:solidFill>
                <a:latin typeface="Inter"/>
                <a:ea typeface="Inter"/>
                <a:cs typeface="Inter"/>
                <a:sym typeface="Inter"/>
              </a:rPr>
              <a:t>Recruiters: faster, fairer shortlisting</a:t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342900" lvl="0" marL="342900" marR="0" rtl="0" algn="l">
              <a:lnSpc>
                <a:spcPct val="175000"/>
              </a:lnSpc>
              <a:spcBef>
                <a:spcPts val="0"/>
              </a:spcBef>
              <a:spcAft>
                <a:spcPts val="0"/>
              </a:spcAft>
              <a:buClr>
                <a:srgbClr val="E2E8F0"/>
              </a:buClr>
              <a:buSzPts val="1800"/>
              <a:buFont typeface="Inter"/>
              <a:buChar char="•"/>
            </a:pPr>
            <a:r>
              <a:rPr b="0" i="0" lang="en-US" sz="1800" u="none" cap="none" strike="noStrike">
                <a:solidFill>
                  <a:srgbClr val="E2E8F0"/>
                </a:solidFill>
                <a:latin typeface="Inter"/>
                <a:ea typeface="Inter"/>
                <a:cs typeface="Inter"/>
                <a:sym typeface="Inter"/>
              </a:rPr>
              <a:t>Institutions: measurable skilling</a:t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342900" lvl="0" marL="342900" marR="0" rtl="0" algn="l">
              <a:lnSpc>
                <a:spcPct val="175000"/>
              </a:lnSpc>
              <a:spcBef>
                <a:spcPts val="0"/>
              </a:spcBef>
              <a:spcAft>
                <a:spcPts val="0"/>
              </a:spcAft>
              <a:buClr>
                <a:srgbClr val="E2E8F0"/>
              </a:buClr>
              <a:buSzPts val="1800"/>
              <a:buFont typeface="Inter"/>
              <a:buChar char="•"/>
            </a:pPr>
            <a:r>
              <a:rPr b="0" i="0" lang="en-US" sz="1800" u="none" cap="none" strike="noStrike">
                <a:solidFill>
                  <a:srgbClr val="E2E8F0"/>
                </a:solidFill>
                <a:latin typeface="Inter"/>
                <a:ea typeface="Inter"/>
                <a:cs typeface="Inter"/>
                <a:sym typeface="Inter"/>
              </a:rPr>
              <a:t>Continuous career development</a:t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42" name="Google Shape;142;p5"/>
          <p:cNvSpPr/>
          <p:nvPr/>
        </p:nvSpPr>
        <p:spPr>
          <a:xfrm>
            <a:off x="952500" y="8286750"/>
            <a:ext cx="16383000" cy="4286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CBD5E1"/>
              </a:buClr>
              <a:buSzPts val="2250"/>
              <a:buFont typeface="Poppins"/>
              <a:buNone/>
            </a:pPr>
            <a:r>
              <a:rPr b="1" i="1" lang="en-US" sz="2250" u="none" cap="none" strike="noStrike">
                <a:solidFill>
                  <a:srgbClr val="CBD5E1"/>
                </a:solidFill>
                <a:latin typeface="Poppins"/>
                <a:ea typeface="Poppins"/>
                <a:cs typeface="Poppins"/>
                <a:sym typeface="Poppins"/>
              </a:rPr>
              <a:t>From evaluation to empowerment — turning screening into lifelong career development.</a:t>
            </a:r>
            <a:endParaRPr b="0" i="0" sz="22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blipFill>
          <a:blip r:embed="rId3">
            <a:alphaModFix/>
          </a:blip>
          <a:stretch>
            <a:fillRect/>
          </a:stretch>
        </a:blipFill>
      </p:bgPr>
    </p:bg>
    <p:spTree>
      <p:nvGrpSpPr>
        <p:cNvPr id="147" name="Shape 14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preencoded.png" id="148" name="Google Shape;148;p6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952500" y="685800"/>
            <a:ext cx="571500" cy="57150"/>
          </a:xfrm>
          <a:prstGeom prst="rect">
            <a:avLst/>
          </a:prstGeom>
          <a:noFill/>
          <a:ln>
            <a:noFill/>
          </a:ln>
        </p:spPr>
      </p:pic>
      <p:sp>
        <p:nvSpPr>
          <p:cNvPr id="149" name="Google Shape;149;p6"/>
          <p:cNvSpPr/>
          <p:nvPr/>
        </p:nvSpPr>
        <p:spPr>
          <a:xfrm>
            <a:off x="1714500" y="590550"/>
            <a:ext cx="6667500" cy="342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22D3EE"/>
              </a:buClr>
              <a:buSzPts val="1800"/>
              <a:buFont typeface="Inter"/>
              <a:buNone/>
            </a:pPr>
            <a:r>
              <a:rPr b="1" i="0" lang="en-US" sz="1800" u="none" cap="none" strike="noStrike">
                <a:solidFill>
                  <a:srgbClr val="22D3EE"/>
                </a:solidFill>
                <a:latin typeface="Inter"/>
                <a:ea typeface="Inter"/>
                <a:cs typeface="Inter"/>
                <a:sym typeface="Inter"/>
              </a:rPr>
              <a:t>RESULTS → FUTURE → IMPACT · 06</a:t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50" name="Google Shape;150;p6"/>
          <p:cNvSpPr/>
          <p:nvPr/>
        </p:nvSpPr>
        <p:spPr>
          <a:xfrm>
            <a:off x="952500" y="1047750"/>
            <a:ext cx="11430000" cy="71437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3750"/>
              <a:buFont typeface="Poppins"/>
              <a:buNone/>
            </a:pPr>
            <a:r>
              <a:rPr b="1" i="0" lang="en-US" sz="3750" u="none" cap="none" strike="noStrike">
                <a:solidFill>
                  <a:srgbClr val="FFFFFF"/>
                </a:solidFill>
                <a:latin typeface="Poppins"/>
                <a:ea typeface="Poppins"/>
                <a:cs typeface="Poppins"/>
                <a:sym typeface="Poppins"/>
              </a:rPr>
              <a:t>Results, Future &amp; Impact</a:t>
            </a:r>
            <a:endParaRPr b="0" i="0" sz="37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51" name="Google Shape;151;p6"/>
          <p:cNvSpPr/>
          <p:nvPr/>
        </p:nvSpPr>
        <p:spPr>
          <a:xfrm>
            <a:off x="952500" y="2000250"/>
            <a:ext cx="4762500" cy="32385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22D3EE"/>
              </a:buClr>
              <a:buSzPts val="1650"/>
              <a:buFont typeface="Inter"/>
              <a:buNone/>
            </a:pPr>
            <a:r>
              <a:rPr b="1" i="0" lang="en-US" sz="1650" u="none" cap="none" strike="noStrike">
                <a:solidFill>
                  <a:srgbClr val="22D3EE"/>
                </a:solidFill>
                <a:latin typeface="Inter"/>
                <a:ea typeface="Inter"/>
                <a:cs typeface="Inter"/>
                <a:sym typeface="Inter"/>
              </a:rPr>
              <a:t>MODEL PERFORMANCE (F1)</a:t>
            </a:r>
            <a:endParaRPr b="0" i="0" sz="16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descr="preencoded.png" id="152" name="Google Shape;152;p6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1428750" y="4000500"/>
            <a:ext cx="1143000" cy="1428750"/>
          </a:xfrm>
          <a:prstGeom prst="rect">
            <a:avLst/>
          </a:prstGeom>
          <a:noFill/>
          <a:ln>
            <a:noFill/>
          </a:ln>
        </p:spPr>
      </p:pic>
      <p:sp>
        <p:nvSpPr>
          <p:cNvPr id="153" name="Google Shape;153;p6"/>
          <p:cNvSpPr/>
          <p:nvPr/>
        </p:nvSpPr>
        <p:spPr>
          <a:xfrm>
            <a:off x="1047750" y="5524500"/>
            <a:ext cx="1905000" cy="3143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94A3B8"/>
              </a:buClr>
              <a:buSzPts val="1650"/>
              <a:buFont typeface="Inter"/>
              <a:buNone/>
            </a:pPr>
            <a:r>
              <a:rPr b="1" i="0" lang="en-US" sz="1650" u="none" cap="none" strike="noStrike">
                <a:solidFill>
                  <a:srgbClr val="94A3B8"/>
                </a:solidFill>
                <a:latin typeface="Inter"/>
                <a:ea typeface="Inter"/>
                <a:cs typeface="Inter"/>
                <a:sym typeface="Inter"/>
              </a:rPr>
              <a:t>TF-IDF</a:t>
            </a:r>
            <a:endParaRPr b="0" i="0" sz="16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54" name="Google Shape;154;p6"/>
          <p:cNvSpPr/>
          <p:nvPr/>
        </p:nvSpPr>
        <p:spPr>
          <a:xfrm>
            <a:off x="1047750" y="3667125"/>
            <a:ext cx="1905000" cy="3143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CBD5E1"/>
              </a:buClr>
              <a:buSzPts val="1650"/>
              <a:buFont typeface="Poppins"/>
              <a:buNone/>
            </a:pPr>
            <a:r>
              <a:rPr b="1" i="0" lang="en-US" sz="1650" u="none" cap="none" strike="noStrike">
                <a:solidFill>
                  <a:srgbClr val="CBD5E1"/>
                </a:solidFill>
                <a:latin typeface="Poppins"/>
                <a:ea typeface="Poppins"/>
                <a:cs typeface="Poppins"/>
                <a:sym typeface="Poppins"/>
              </a:rPr>
              <a:t>0.58</a:t>
            </a:r>
            <a:endParaRPr b="0" i="0" sz="16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descr="preencoded.png" id="155" name="Google Shape;155;p6"/>
          <p:cNvPicPr preferRelativeResize="0"/>
          <p:nvPr/>
        </p:nvPicPr>
        <p:blipFill rotWithShape="1">
          <a:blip r:embed="rId6">
            <a:alphaModFix/>
          </a:blip>
          <a:srcRect b="0" l="0" r="0" t="0"/>
          <a:stretch/>
        </p:blipFill>
        <p:spPr>
          <a:xfrm>
            <a:off x="3429000" y="3238500"/>
            <a:ext cx="1143000" cy="2190750"/>
          </a:xfrm>
          <a:prstGeom prst="rect">
            <a:avLst/>
          </a:prstGeom>
          <a:noFill/>
          <a:ln>
            <a:noFill/>
          </a:ln>
        </p:spPr>
      </p:pic>
      <p:sp>
        <p:nvSpPr>
          <p:cNvPr id="156" name="Google Shape;156;p6"/>
          <p:cNvSpPr/>
          <p:nvPr/>
        </p:nvSpPr>
        <p:spPr>
          <a:xfrm>
            <a:off x="3048000" y="5524500"/>
            <a:ext cx="1905000" cy="3143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94A3B8"/>
              </a:buClr>
              <a:buSzPts val="1650"/>
              <a:buFont typeface="Inter"/>
              <a:buNone/>
            </a:pPr>
            <a:r>
              <a:rPr b="1" i="0" lang="en-US" sz="1650" u="none" cap="none" strike="noStrike">
                <a:solidFill>
                  <a:srgbClr val="94A3B8"/>
                </a:solidFill>
                <a:latin typeface="Inter"/>
                <a:ea typeface="Inter"/>
                <a:cs typeface="Inter"/>
                <a:sym typeface="Inter"/>
              </a:rPr>
              <a:t>BERT</a:t>
            </a:r>
            <a:endParaRPr b="0" i="0" sz="16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57" name="Google Shape;157;p6"/>
          <p:cNvSpPr/>
          <p:nvPr/>
        </p:nvSpPr>
        <p:spPr>
          <a:xfrm>
            <a:off x="3048000" y="2905125"/>
            <a:ext cx="1905000" cy="3143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CBD5E1"/>
              </a:buClr>
              <a:buSzPts val="1650"/>
              <a:buFont typeface="Poppins"/>
              <a:buNone/>
            </a:pPr>
            <a:r>
              <a:rPr b="1" i="0" lang="en-US" sz="1650" u="none" cap="none" strike="noStrike">
                <a:solidFill>
                  <a:srgbClr val="CBD5E1"/>
                </a:solidFill>
                <a:latin typeface="Poppins"/>
                <a:ea typeface="Poppins"/>
                <a:cs typeface="Poppins"/>
                <a:sym typeface="Poppins"/>
              </a:rPr>
              <a:t>0.71</a:t>
            </a:r>
            <a:endParaRPr b="0" i="0" sz="16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descr="preencoded.png" id="158" name="Google Shape;158;p6"/>
          <p:cNvPicPr preferRelativeResize="0"/>
          <p:nvPr/>
        </p:nvPicPr>
        <p:blipFill rotWithShape="1">
          <a:blip r:embed="rId7">
            <a:alphaModFix/>
          </a:blip>
          <a:srcRect b="0" l="0" r="0" t="0"/>
          <a:stretch/>
        </p:blipFill>
        <p:spPr>
          <a:xfrm>
            <a:off x="5429250" y="2762250"/>
            <a:ext cx="1143000" cy="2667000"/>
          </a:xfrm>
          <a:prstGeom prst="rect">
            <a:avLst/>
          </a:prstGeom>
          <a:noFill/>
          <a:ln>
            <a:noFill/>
          </a:ln>
        </p:spPr>
      </p:pic>
      <p:sp>
        <p:nvSpPr>
          <p:cNvPr id="159" name="Google Shape;159;p6"/>
          <p:cNvSpPr/>
          <p:nvPr/>
        </p:nvSpPr>
        <p:spPr>
          <a:xfrm>
            <a:off x="5048250" y="5524500"/>
            <a:ext cx="1905000" cy="3143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22D3EE"/>
              </a:buClr>
              <a:buSzPts val="1650"/>
              <a:buFont typeface="Inter"/>
              <a:buNone/>
            </a:pPr>
            <a:r>
              <a:rPr b="1" i="0" lang="en-US" sz="1650" u="none" cap="none" strike="noStrike">
                <a:solidFill>
                  <a:srgbClr val="22D3EE"/>
                </a:solidFill>
                <a:latin typeface="Inter"/>
                <a:ea typeface="Inter"/>
                <a:cs typeface="Inter"/>
                <a:sym typeface="Inter"/>
              </a:rPr>
              <a:t>GNN</a:t>
            </a:r>
            <a:endParaRPr b="0" i="0" sz="16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60" name="Google Shape;160;p6"/>
          <p:cNvSpPr/>
          <p:nvPr/>
        </p:nvSpPr>
        <p:spPr>
          <a:xfrm>
            <a:off x="5048250" y="2428875"/>
            <a:ext cx="1905000" cy="342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22D3EE"/>
              </a:buClr>
              <a:buSzPts val="1800"/>
              <a:buFont typeface="Poppins"/>
              <a:buNone/>
            </a:pPr>
            <a:r>
              <a:rPr b="1" i="0" lang="en-US" sz="1800" u="none" cap="none" strike="noStrike">
                <a:solidFill>
                  <a:srgbClr val="22D3EE"/>
                </a:solidFill>
                <a:latin typeface="Poppins"/>
                <a:ea typeface="Poppins"/>
                <a:cs typeface="Poppins"/>
                <a:sym typeface="Poppins"/>
              </a:rPr>
              <a:t>0.81</a:t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61" name="Google Shape;161;p6"/>
          <p:cNvSpPr/>
          <p:nvPr/>
        </p:nvSpPr>
        <p:spPr>
          <a:xfrm>
            <a:off x="7620000" y="2190750"/>
            <a:ext cx="4762500" cy="32385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8B5CF6"/>
              </a:buClr>
              <a:buSzPts val="1650"/>
              <a:buFont typeface="Inter"/>
              <a:buNone/>
            </a:pPr>
            <a:r>
              <a:rPr b="1" i="0" lang="en-US" sz="1650" u="none" cap="none" strike="noStrike">
                <a:solidFill>
                  <a:srgbClr val="8B5CF6"/>
                </a:solidFill>
                <a:latin typeface="Inter"/>
                <a:ea typeface="Inter"/>
                <a:cs typeface="Inter"/>
                <a:sym typeface="Inter"/>
              </a:rPr>
              <a:t>KEY METRICS</a:t>
            </a:r>
            <a:endParaRPr b="0" i="0" sz="16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62" name="Google Shape;162;p6"/>
          <p:cNvSpPr/>
          <p:nvPr/>
        </p:nvSpPr>
        <p:spPr>
          <a:xfrm>
            <a:off x="7620000" y="2714625"/>
            <a:ext cx="9525000" cy="173355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90000"/>
              </a:lnSpc>
              <a:spcBef>
                <a:spcPts val="0"/>
              </a:spcBef>
              <a:spcAft>
                <a:spcPts val="0"/>
              </a:spcAft>
              <a:buClr>
                <a:srgbClr val="E2E8F0"/>
              </a:buClr>
              <a:buSzPts val="2400"/>
              <a:buFont typeface="Poppins"/>
              <a:buNone/>
            </a:pPr>
            <a:r>
              <a:rPr b="1" i="0" lang="en-US" sz="2400" u="none" cap="none" strike="noStrike">
                <a:solidFill>
                  <a:srgbClr val="E2E8F0"/>
                </a:solidFill>
                <a:latin typeface="Poppins"/>
                <a:ea typeface="Poppins"/>
                <a:cs typeface="Poppins"/>
                <a:sym typeface="Poppins"/>
              </a:rPr>
              <a:t>92%  Skill-Gap Detection</a:t>
            </a:r>
            <a:endParaRPr b="0" i="0" sz="2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lnSpc>
                <a:spcPct val="190000"/>
              </a:lnSpc>
              <a:spcBef>
                <a:spcPts val="0"/>
              </a:spcBef>
              <a:spcAft>
                <a:spcPts val="0"/>
              </a:spcAft>
              <a:buClr>
                <a:srgbClr val="E2E8F0"/>
              </a:buClr>
              <a:buSzPts val="2400"/>
              <a:buFont typeface="Poppins"/>
              <a:buNone/>
            </a:pPr>
            <a:r>
              <a:rPr b="1" i="0" lang="en-US" sz="2400" u="none" cap="none" strike="noStrike">
                <a:solidFill>
                  <a:srgbClr val="E2E8F0"/>
                </a:solidFill>
                <a:latin typeface="Poppins"/>
                <a:ea typeface="Poppins"/>
                <a:cs typeface="Poppins"/>
                <a:sym typeface="Poppins"/>
              </a:rPr>
              <a:t>4.6/5  User Satisfaction</a:t>
            </a:r>
            <a:endParaRPr b="0" i="0" sz="2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lnSpc>
                <a:spcPct val="190000"/>
              </a:lnSpc>
              <a:spcBef>
                <a:spcPts val="0"/>
              </a:spcBef>
              <a:spcAft>
                <a:spcPts val="0"/>
              </a:spcAft>
              <a:buClr>
                <a:srgbClr val="E2E8F0"/>
              </a:buClr>
              <a:buSzPts val="2400"/>
              <a:buFont typeface="Poppins"/>
              <a:buNone/>
            </a:pPr>
            <a:r>
              <a:rPr b="1" i="0" lang="en-US" sz="2400" u="none" cap="none" strike="noStrike">
                <a:solidFill>
                  <a:srgbClr val="E2E8F0"/>
                </a:solidFill>
                <a:latin typeface="Poppins"/>
                <a:ea typeface="Poppins"/>
                <a:cs typeface="Poppins"/>
                <a:sym typeface="Poppins"/>
              </a:rPr>
              <a:t>~1 Resume/sec  Processing Capacity</a:t>
            </a:r>
            <a:endParaRPr b="0" i="0" sz="2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63" name="Google Shape;163;p6"/>
          <p:cNvSpPr/>
          <p:nvPr/>
        </p:nvSpPr>
        <p:spPr>
          <a:xfrm>
            <a:off x="7620000" y="5143500"/>
            <a:ext cx="4762500" cy="32385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34D399"/>
              </a:buClr>
              <a:buSzPts val="1650"/>
              <a:buFont typeface="Inter"/>
              <a:buNone/>
            </a:pPr>
            <a:r>
              <a:rPr b="1" i="0" lang="en-US" sz="1650" u="none" cap="none" strike="noStrike">
                <a:solidFill>
                  <a:srgbClr val="34D399"/>
                </a:solidFill>
                <a:latin typeface="Inter"/>
                <a:ea typeface="Inter"/>
                <a:cs typeface="Inter"/>
                <a:sym typeface="Inter"/>
              </a:rPr>
              <a:t>FUTURE SCOPE</a:t>
            </a:r>
            <a:endParaRPr b="0" i="0" sz="16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64" name="Google Shape;164;p6"/>
          <p:cNvSpPr/>
          <p:nvPr/>
        </p:nvSpPr>
        <p:spPr>
          <a:xfrm>
            <a:off x="7620000" y="5572125"/>
            <a:ext cx="9525000" cy="685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CBD5E1"/>
              </a:buClr>
              <a:buSzPts val="1800"/>
              <a:buFont typeface="Inter"/>
              <a:buNone/>
            </a:pPr>
            <a:r>
              <a:rPr b="0" i="0" lang="en-US" sz="1800" u="none" cap="none" strike="noStrike">
                <a:solidFill>
                  <a:srgbClr val="CBD5E1"/>
                </a:solidFill>
                <a:latin typeface="Inter"/>
                <a:ea typeface="Inter"/>
                <a:cs typeface="Inter"/>
                <a:sym typeface="Inter"/>
              </a:rPr>
              <a:t>LLM integration · Real-time job-market intelligence · Multilingual analysis · Explainable AI · LinkedIn integration · Cloud scalability</a:t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descr="preencoded.png" id="165" name="Google Shape;165;p6"/>
          <p:cNvPicPr preferRelativeResize="0"/>
          <p:nvPr/>
        </p:nvPicPr>
        <p:blipFill rotWithShape="1">
          <a:blip r:embed="rId8">
            <a:alphaModFix/>
          </a:blip>
          <a:srcRect b="0" l="0" r="0" t="0"/>
          <a:stretch/>
        </p:blipFill>
        <p:spPr>
          <a:xfrm>
            <a:off x="952500" y="6953250"/>
            <a:ext cx="16383000" cy="1714500"/>
          </a:xfrm>
          <a:prstGeom prst="rect">
            <a:avLst/>
          </a:prstGeom>
          <a:noFill/>
          <a:ln>
            <a:noFill/>
          </a:ln>
        </p:spPr>
      </p:pic>
      <p:sp>
        <p:nvSpPr>
          <p:cNvPr id="166" name="Google Shape;166;p6"/>
          <p:cNvSpPr/>
          <p:nvPr/>
        </p:nvSpPr>
        <p:spPr>
          <a:xfrm>
            <a:off x="1428750" y="7191375"/>
            <a:ext cx="15430500" cy="7334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2400"/>
              <a:buFont typeface="Poppins"/>
              <a:buNone/>
            </a:pPr>
            <a:r>
              <a:rPr b="1" i="0" lang="en-US" sz="2400" u="none" cap="none" strike="noStrike">
                <a:solidFill>
                  <a:srgbClr val="FFFFFF"/>
                </a:solidFill>
                <a:latin typeface="Poppins"/>
                <a:ea typeface="Poppins"/>
                <a:cs typeface="Poppins"/>
                <a:sym typeface="Poppins"/>
              </a:rPr>
              <a:t>“Don't Just Tell Candidates Whether They Match a Job — Tell Them How to Become the Right Candidate.”</a:t>
            </a:r>
            <a:endParaRPr b="0" i="0" sz="2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67" name="Google Shape;167;p6"/>
          <p:cNvSpPr/>
          <p:nvPr/>
        </p:nvSpPr>
        <p:spPr>
          <a:xfrm>
            <a:off x="1428750" y="8239125"/>
            <a:ext cx="15430500" cy="342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22D3EE"/>
              </a:buClr>
              <a:buSzPts val="1800"/>
              <a:buFont typeface="Poppins"/>
              <a:buNone/>
            </a:pPr>
            <a:r>
              <a:rPr b="1" i="0" lang="en-US" sz="1800" u="none" cap="none" strike="noStrike">
                <a:solidFill>
                  <a:srgbClr val="22D3EE"/>
                </a:solidFill>
                <a:latin typeface="Poppins"/>
                <a:ea typeface="Poppins"/>
                <a:cs typeface="Poppins"/>
                <a:sym typeface="Poppins"/>
              </a:rPr>
              <a:t>Analyze  →  Match  →  Identify Gaps  →  Upskill  →  Improve</a:t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68" name="Google Shape;168;p6"/>
          <p:cNvSpPr/>
          <p:nvPr/>
        </p:nvSpPr>
        <p:spPr>
          <a:xfrm>
            <a:off x="952500" y="8953500"/>
            <a:ext cx="16383000" cy="3143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94A3B8"/>
              </a:buClr>
              <a:buSzPts val="1650"/>
              <a:buFont typeface="Inter"/>
              <a:buNone/>
            </a:pPr>
            <a:r>
              <a:rPr b="0" i="0" lang="en-US" sz="1650" u="none" cap="none" strike="noStrike">
                <a:solidFill>
                  <a:srgbClr val="94A3B8"/>
                </a:solidFill>
                <a:latin typeface="Inter"/>
                <a:ea typeface="Inter"/>
                <a:cs typeface="Inter"/>
                <a:sym typeface="Inter"/>
              </a:rPr>
              <a:t>TEAM: Saksham Jain · Siddharth Gautam  </a:t>
            </a:r>
            <a:r>
              <a:rPr lang="en-US" sz="1650">
                <a:solidFill>
                  <a:srgbClr val="94A3B8"/>
                </a:solidFill>
                <a:latin typeface="Inter"/>
                <a:ea typeface="Inter"/>
                <a:cs typeface="Inter"/>
                <a:sym typeface="Inter"/>
              </a:rPr>
              <a:t>· </a:t>
            </a:r>
            <a:r>
              <a:rPr lang="en-US" sz="1650">
                <a:solidFill>
                  <a:srgbClr val="94A3B8"/>
                </a:solidFill>
                <a:latin typeface="Inter"/>
                <a:ea typeface="Inter"/>
                <a:cs typeface="Inter"/>
                <a:sym typeface="Inter"/>
              </a:rPr>
              <a:t>Rishi Arora </a:t>
            </a:r>
            <a:r>
              <a:rPr b="0" i="0" lang="en-US" sz="1650" u="none" cap="none" strike="noStrike">
                <a:solidFill>
                  <a:srgbClr val="94A3B8"/>
                </a:solidFill>
                <a:latin typeface="Inter"/>
                <a:ea typeface="Inter"/>
                <a:cs typeface="Inter"/>
                <a:sym typeface="Inter"/>
              </a:rPr>
              <a:t> —   KIET De</a:t>
            </a:r>
            <a:r>
              <a:rPr lang="en-US" sz="1650">
                <a:solidFill>
                  <a:srgbClr val="94A3B8"/>
                </a:solidFill>
                <a:latin typeface="Inter"/>
                <a:ea typeface="Inter"/>
                <a:cs typeface="Inter"/>
                <a:sym typeface="Inter"/>
              </a:rPr>
              <a:t>emed to </a:t>
            </a:r>
            <a:r>
              <a:rPr lang="en-US" sz="1650">
                <a:solidFill>
                  <a:srgbClr val="94A3B8"/>
                </a:solidFill>
                <a:latin typeface="Inter"/>
                <a:ea typeface="Inter"/>
                <a:cs typeface="Inter"/>
                <a:sym typeface="Inter"/>
              </a:rPr>
              <a:t>be University</a:t>
            </a:r>
            <a:endParaRPr b="0" i="0" sz="16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xmlns:r="http://schemas.openxmlformats.org/officeDocument/2006/relationships" name="Office Theme">
  <a:themeElements>
    <a:clrScheme name="Office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 name="Office Theme">
  <a:themeElements>
    <a:clrScheme name="Office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terms:created xsi:type="dcterms:W3CDTF">2026-09-15T16:37:17Z</dcterms:created>
  <dc:creator>Design Export</dc:creator>
</cp:coreProperties>
</file>